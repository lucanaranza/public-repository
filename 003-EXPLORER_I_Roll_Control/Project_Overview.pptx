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57" r:id="rId4"/>
    <p:sldId id="316" r:id="rId5"/>
    <p:sldId id="258" r:id="rId6"/>
    <p:sldId id="281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308" r:id="rId24"/>
    <p:sldId id="310" r:id="rId25"/>
    <p:sldId id="311" r:id="rId26"/>
    <p:sldId id="312" r:id="rId27"/>
    <p:sldId id="313" r:id="rId28"/>
    <p:sldId id="314" r:id="rId29"/>
    <p:sldId id="315" r:id="rId30"/>
    <p:sldId id="309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259" r:id="rId41"/>
    <p:sldId id="266" r:id="rId42"/>
    <p:sldId id="267" r:id="rId43"/>
    <p:sldId id="260" r:id="rId44"/>
    <p:sldId id="268" r:id="rId45"/>
    <p:sldId id="262" r:id="rId46"/>
    <p:sldId id="269" r:id="rId47"/>
    <p:sldId id="270" r:id="rId48"/>
    <p:sldId id="271" r:id="rId49"/>
    <p:sldId id="272" r:id="rId5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19BC3F-4372-9D47-E4AD-F76AD809F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A30EB45-4611-40D7-C8E8-F698E3664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8460E7-D38A-2799-A669-53B640D9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8AB2C3-BEF5-2B2F-9D2A-3D366EA35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2E3FD4-8CD7-BB23-BF4C-DB3A969A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120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F43A71-AE4A-C22C-1D3B-210793EB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43F8E8-08A6-5E8D-60DD-EDE84D5F4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5209C7-E3DD-7B78-CD80-292409D8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037475-C0C5-895A-65C8-AAC28423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A6F8A2-8D73-4CC4-3314-A770A55A9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7330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572253-A0C2-E93F-B04C-FD90CC46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519E1D-B775-0498-9D71-B411D7612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9B0DB45-24CF-98F2-AA63-2E982A1EF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1393A2C-F14E-A14A-47A2-EDA31067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904C1E-3839-F2CC-D143-4C2E22B2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78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FD1DFC-5E54-5BEA-98CC-31FBC6C42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03717B-DF07-7519-FE81-80D1FA7BF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1688C0F-3AB5-2AAD-CE4E-20977DD05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FB8DDD1-A13D-75E8-D597-27C4AABA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956540A-990B-50A4-5488-2723A91BA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86D023E-B2B8-50C6-EEED-568A0A30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780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E5E67F-7763-EDFD-B6EB-B3EC9C178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333C9E-2D2A-A4BD-98F1-9AF60C032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C04794A-50F8-3252-AD03-8C8ECCA6A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37550AA-65C2-35C9-EEB4-0028B6EE7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CE66BBC-0570-BEEA-C493-E386D77F7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836ADF-1D47-095D-B0B1-1AA270F7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A78C92A-0E22-4799-D47F-5728FD484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9E1301A-70CA-FEB0-002D-B9D8AAC4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140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C91B2A-77F2-DF75-8B91-1CFE9B2EB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51C54A8-B5F0-8B7C-8DB4-9418E5C6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3BB4A83-EBB3-52A3-4194-35067069B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66BB258-B524-3B2C-BEE6-1D003BAE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901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CF2EDD2-9578-2C4A-0971-C9954E59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E8F7E0A-DD0A-A6CD-0938-BDC01DAEB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7916A5-615A-7246-C6BE-A968AE18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722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CA8655-09FD-9D60-A019-9F7723D0C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C2EA08-47D9-9A72-393E-EFF97B11F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5316BC0-0F68-E0CC-1B52-7AEFCEFB7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C7EAA4A-2F5F-A23B-7847-3D2DA399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69A62CD-CDDD-6228-2C43-51588471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E0A915B-CF84-B191-5C86-9A34060C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895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18843A-9A2D-39CC-A0C8-A8CC1641D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9A50083-0200-2D61-BA9E-3EA740456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E99EF1C-0C50-A6AA-14DC-972B46298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2D5F1E2-F6C7-7E48-C568-8943C8F1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19607F9-4C64-B633-7775-ABA94D45E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4CC267D-DBE9-D652-85BE-41F656CB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227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40CCD6-E0EC-A67B-5791-B3E5F3EB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F130F9B-307E-84FA-E185-27061D6AB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5189C6-E964-5BCE-A242-65AF6748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D63B63-19FC-0837-911F-689E72677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AF087B-2756-64A0-B41B-1515EAB82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852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42FE2A1-8EC9-C0B6-216E-AB2386FE3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D6CCF60-0778-7BC2-EE8B-CF81DE4A9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230377-BC57-3FAD-5DED-3E26689E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75091D-171E-031E-7353-4AE50D026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04B5F51-9C09-4D8F-C4C8-4C5293BD1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3297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F3536D7-3834-7704-9F4D-6126CEA1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A955463-EAC0-DD2B-58BF-2BF2463F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412CFA-D1A6-FB00-7FEE-DCC0D0528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94E40-A777-469C-9681-40FA18CF6FE4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62FE4A-FCCA-5E4C-1160-325D227A9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6F077F-72A2-3FCB-B0D9-FCF8D985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750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524A55-7536-FA6D-10D8-20014BBFFE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ROLL CONTROL ROCKET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2D8A42F-EB42-1014-9F4F-F5D37196B2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err="1"/>
              <a:t>Overview</a:t>
            </a:r>
            <a:r>
              <a:rPr lang="it-IT" dirty="0"/>
              <a:t>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231941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316D63-3BDF-CDDE-E18E-7F7DBD523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1-Introduction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264ECEF-1FF8-B17E-C46A-6025A3D4C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Design, Implementation and Validation of an active attitude stabilization control system for sounding rockets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2761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811110-6C61-0314-A3AB-58341E49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1-a Concept &amp; </a:t>
            </a:r>
            <a:r>
              <a:rPr lang="it-IT" dirty="0" err="1"/>
              <a:t>Motivations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2D598D-31DF-B7C1-C26C-30B66DCE5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24583"/>
          </a:xfrm>
        </p:spPr>
        <p:txBody>
          <a:bodyPr>
            <a:normAutofit/>
          </a:bodyPr>
          <a:lstStyle/>
          <a:p>
            <a:r>
              <a:rPr lang="it-IT" sz="1600" dirty="0"/>
              <a:t>Use </a:t>
            </a:r>
            <a:r>
              <a:rPr lang="it-IT" sz="1600" b="1" dirty="0" err="1"/>
              <a:t>aerodynamic</a:t>
            </a:r>
            <a:r>
              <a:rPr lang="it-IT" sz="1600" b="1" dirty="0"/>
              <a:t> control </a:t>
            </a:r>
            <a:r>
              <a:rPr lang="it-IT" sz="1600" b="1" dirty="0" err="1"/>
              <a:t>tabs</a:t>
            </a:r>
            <a:r>
              <a:rPr lang="it-IT" sz="1600" dirty="0"/>
              <a:t> to control the </a:t>
            </a:r>
            <a:r>
              <a:rPr lang="it-IT" sz="1600" b="1" dirty="0"/>
              <a:t>roll </a:t>
            </a:r>
            <a:r>
              <a:rPr lang="it-IT" sz="1600" b="1" dirty="0" err="1"/>
              <a:t>attitude</a:t>
            </a:r>
            <a:r>
              <a:rPr lang="it-IT" sz="1600" b="1" dirty="0"/>
              <a:t> </a:t>
            </a:r>
            <a:r>
              <a:rPr lang="it-IT" sz="1600" dirty="0"/>
              <a:t>of a model rocket </a:t>
            </a:r>
            <a:r>
              <a:rPr lang="it-IT" sz="1600" dirty="0" err="1"/>
              <a:t>demonstrating</a:t>
            </a:r>
            <a:r>
              <a:rPr lang="it-IT" sz="1600" dirty="0"/>
              <a:t> </a:t>
            </a:r>
            <a:r>
              <a:rPr lang="it-IT" sz="1600" b="1" dirty="0" err="1"/>
              <a:t>active</a:t>
            </a:r>
            <a:r>
              <a:rPr lang="it-IT" sz="1600" b="1" dirty="0"/>
              <a:t> </a:t>
            </a:r>
            <a:r>
              <a:rPr lang="it-IT" sz="1600" b="1" dirty="0" err="1"/>
              <a:t>stability</a:t>
            </a:r>
            <a:r>
              <a:rPr lang="it-IT" sz="1600" b="1" dirty="0"/>
              <a:t> </a:t>
            </a:r>
            <a:r>
              <a:rPr lang="it-IT" sz="1600" dirty="0"/>
              <a:t>for a </a:t>
            </a:r>
            <a:r>
              <a:rPr lang="it-IT" sz="1600" dirty="0" err="1"/>
              <a:t>smooth</a:t>
            </a:r>
            <a:r>
              <a:rPr lang="it-IT" sz="1600" dirty="0"/>
              <a:t> </a:t>
            </a:r>
            <a:r>
              <a:rPr lang="it-IT" sz="1600" dirty="0" err="1"/>
              <a:t>ascent</a:t>
            </a:r>
            <a:r>
              <a:rPr lang="it-IT" sz="1600" dirty="0"/>
              <a:t> / </a:t>
            </a:r>
            <a:r>
              <a:rPr lang="it-IT" sz="1600" dirty="0" err="1"/>
              <a:t>gyro</a:t>
            </a:r>
            <a:r>
              <a:rPr lang="it-IT" sz="1600" dirty="0"/>
              <a:t> </a:t>
            </a:r>
            <a:r>
              <a:rPr lang="it-IT" sz="1600" dirty="0" err="1"/>
              <a:t>stabilization</a:t>
            </a:r>
            <a:r>
              <a:rPr lang="it-IT" sz="1600" dirty="0"/>
              <a:t>.</a:t>
            </a:r>
          </a:p>
          <a:p>
            <a:r>
              <a:rPr lang="it-IT" sz="1600" dirty="0"/>
              <a:t>1- Why? </a:t>
            </a:r>
            <a:r>
              <a:rPr lang="it-IT" sz="1600" dirty="0" err="1"/>
              <a:t>There</a:t>
            </a:r>
            <a:r>
              <a:rPr lang="it-IT" sz="1600" dirty="0"/>
              <a:t> are some </a:t>
            </a:r>
            <a:r>
              <a:rPr lang="it-IT" sz="1600" dirty="0" err="1"/>
              <a:t>interesting</a:t>
            </a:r>
            <a:r>
              <a:rPr lang="it-IT" sz="1600" dirty="0"/>
              <a:t> </a:t>
            </a:r>
            <a:r>
              <a:rPr lang="it-IT" sz="1600" dirty="0" err="1"/>
              <a:t>applications</a:t>
            </a:r>
            <a:r>
              <a:rPr lang="it-IT" sz="1600" dirty="0"/>
              <a:t>:</a:t>
            </a:r>
          </a:p>
          <a:p>
            <a:pPr lvl="1"/>
            <a:r>
              <a:rPr lang="it-IT" sz="1600" dirty="0" err="1"/>
              <a:t>Avoid</a:t>
            </a:r>
            <a:r>
              <a:rPr lang="it-IT" sz="1600" dirty="0"/>
              <a:t> spin </a:t>
            </a:r>
            <a:r>
              <a:rPr lang="it-IT" sz="1600" dirty="0" err="1"/>
              <a:t>along</a:t>
            </a:r>
            <a:r>
              <a:rPr lang="it-IT" sz="1600" dirty="0"/>
              <a:t> the </a:t>
            </a:r>
            <a:r>
              <a:rPr lang="it-IT" sz="1600" dirty="0" err="1"/>
              <a:t>main</a:t>
            </a:r>
            <a:r>
              <a:rPr lang="it-IT" sz="1600" dirty="0"/>
              <a:t> </a:t>
            </a:r>
            <a:r>
              <a:rPr lang="it-IT" sz="1600" dirty="0" err="1"/>
              <a:t>axis</a:t>
            </a:r>
            <a:r>
              <a:rPr lang="it-IT" sz="1600" dirty="0"/>
              <a:t> (</a:t>
            </a:r>
            <a:r>
              <a:rPr lang="it-IT" sz="1600" dirty="0" err="1"/>
              <a:t>always</a:t>
            </a:r>
            <a:r>
              <a:rPr lang="it-IT" sz="1600" dirty="0"/>
              <a:t> </a:t>
            </a:r>
            <a:r>
              <a:rPr lang="it-IT" sz="1600" dirty="0" err="1"/>
              <a:t>present</a:t>
            </a:r>
            <a:r>
              <a:rPr lang="it-IT" sz="1600" dirty="0"/>
              <a:t> </a:t>
            </a:r>
            <a:r>
              <a:rPr lang="it-IT" sz="1600" dirty="0" err="1"/>
              <a:t>if</a:t>
            </a:r>
            <a:r>
              <a:rPr lang="it-IT" sz="1600" dirty="0"/>
              <a:t> </a:t>
            </a:r>
            <a:r>
              <a:rPr lang="it-IT" sz="1600" dirty="0" err="1"/>
              <a:t>there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not</a:t>
            </a:r>
            <a:r>
              <a:rPr lang="it-IT" sz="1600" dirty="0"/>
              <a:t> an </a:t>
            </a:r>
            <a:r>
              <a:rPr lang="it-IT" sz="1600" dirty="0" err="1"/>
              <a:t>active</a:t>
            </a:r>
            <a:r>
              <a:rPr lang="it-IT" sz="1600" dirty="0"/>
              <a:t> control system to compensate </a:t>
            </a:r>
            <a:r>
              <a:rPr lang="it-IT" sz="1600" dirty="0" err="1"/>
              <a:t>because</a:t>
            </a:r>
            <a:r>
              <a:rPr lang="it-IT" sz="1600" dirty="0"/>
              <a:t> of manufacturing </a:t>
            </a:r>
            <a:r>
              <a:rPr lang="it-IT" sz="1600" dirty="0" err="1"/>
              <a:t>errors</a:t>
            </a:r>
            <a:r>
              <a:rPr lang="it-IT" sz="1600" dirty="0"/>
              <a:t>) </a:t>
            </a:r>
            <a:r>
              <a:rPr lang="it-IT" sz="1600" dirty="0">
                <a:sym typeface="Wingdings" panose="05000000000000000000" pitchFamily="2" charset="2"/>
              </a:rPr>
              <a:t> </a:t>
            </a:r>
            <a:r>
              <a:rPr lang="it-IT" sz="1600" dirty="0" err="1">
                <a:sym typeface="Wingdings" panose="05000000000000000000" pitchFamily="2" charset="2"/>
              </a:rPr>
              <a:t>better</a:t>
            </a:r>
            <a:r>
              <a:rPr lang="it-IT" sz="1600" dirty="0">
                <a:sym typeface="Wingdings" panose="05000000000000000000" pitchFamily="2" charset="2"/>
              </a:rPr>
              <a:t> footage, </a:t>
            </a:r>
            <a:r>
              <a:rPr lang="it-IT" sz="1600" dirty="0" err="1">
                <a:sym typeface="Wingdings" panose="05000000000000000000" pitchFamily="2" charset="2"/>
              </a:rPr>
              <a:t>better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measurements</a:t>
            </a:r>
            <a:r>
              <a:rPr lang="it-IT" sz="1600" dirty="0">
                <a:sym typeface="Wingdings" panose="05000000000000000000" pitchFamily="2" charset="2"/>
              </a:rPr>
              <a:t> (no </a:t>
            </a:r>
            <a:r>
              <a:rPr lang="it-IT" sz="1600" dirty="0" err="1">
                <a:sym typeface="Wingdings" panose="05000000000000000000" pitchFamily="2" charset="2"/>
              </a:rPr>
              <a:t>coriolis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acceleration</a:t>
            </a:r>
            <a:r>
              <a:rPr lang="it-IT" sz="1600" dirty="0">
                <a:sym typeface="Wingdings" panose="05000000000000000000" pitchFamily="2" charset="2"/>
              </a:rPr>
              <a:t> on IMU), </a:t>
            </a:r>
            <a:r>
              <a:rPr lang="it-IT" sz="1600" dirty="0" err="1">
                <a:sym typeface="Wingdings" panose="05000000000000000000" pitchFamily="2" charset="2"/>
              </a:rPr>
              <a:t>microgravity</a:t>
            </a:r>
            <a:r>
              <a:rPr lang="it-IT" sz="1600" dirty="0">
                <a:sym typeface="Wingdings" panose="05000000000000000000" pitchFamily="2" charset="2"/>
              </a:rPr>
              <a:t> for </a:t>
            </a:r>
            <a:r>
              <a:rPr lang="it-IT" sz="1600" dirty="0" err="1">
                <a:sym typeface="Wingdings" panose="05000000000000000000" pitchFamily="2" charset="2"/>
              </a:rPr>
              <a:t>space</a:t>
            </a:r>
            <a:r>
              <a:rPr lang="it-IT" sz="1600" dirty="0">
                <a:sym typeface="Wingdings" panose="05000000000000000000" pitchFamily="2" charset="2"/>
              </a:rPr>
              <a:t> shots, </a:t>
            </a:r>
            <a:r>
              <a:rPr lang="it-IT" sz="1600" dirty="0" err="1">
                <a:sym typeface="Wingdings" panose="05000000000000000000" pitchFamily="2" charset="2"/>
              </a:rPr>
              <a:t>solid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motor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perfomance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closer</a:t>
            </a:r>
            <a:r>
              <a:rPr lang="it-IT" sz="1600" dirty="0">
                <a:sym typeface="Wingdings" panose="05000000000000000000" pitchFamily="2" charset="2"/>
              </a:rPr>
              <a:t> to </a:t>
            </a:r>
            <a:r>
              <a:rPr lang="it-IT" sz="1600" dirty="0" err="1">
                <a:sym typeface="Wingdings" panose="05000000000000000000" pitchFamily="2" charset="2"/>
              </a:rPr>
              <a:t>theoretical</a:t>
            </a:r>
            <a:r>
              <a:rPr lang="it-IT" sz="1600" dirty="0">
                <a:sym typeface="Wingdings" panose="05000000000000000000" pitchFamily="2" charset="2"/>
              </a:rPr>
              <a:t> one</a:t>
            </a:r>
          </a:p>
          <a:p>
            <a:pPr lvl="1"/>
            <a:r>
              <a:rPr lang="it-IT" sz="1600" dirty="0" err="1">
                <a:sym typeface="Wingdings" panose="05000000000000000000" pitchFamily="2" charset="2"/>
              </a:rPr>
              <a:t>Gyroscopic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stiffness</a:t>
            </a:r>
            <a:r>
              <a:rPr lang="it-IT" sz="1600" dirty="0">
                <a:sym typeface="Wingdings" panose="05000000000000000000" pitchFamily="2" charset="2"/>
              </a:rPr>
              <a:t>  </a:t>
            </a:r>
            <a:r>
              <a:rPr lang="it-IT" sz="1600" dirty="0" err="1">
                <a:sym typeface="Wingdings" panose="05000000000000000000" pitchFamily="2" charset="2"/>
              </a:rPr>
              <a:t>if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you</a:t>
            </a:r>
            <a:r>
              <a:rPr lang="it-IT" sz="1600" dirty="0">
                <a:sym typeface="Wingdings" panose="05000000000000000000" pitchFamily="2" charset="2"/>
              </a:rPr>
              <a:t> spin the rocket up in the </a:t>
            </a:r>
            <a:r>
              <a:rPr lang="it-IT" sz="1600" dirty="0" err="1">
                <a:sym typeface="Wingdings" panose="05000000000000000000" pitchFamily="2" charset="2"/>
              </a:rPr>
              <a:t>higher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atmosphere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you</a:t>
            </a:r>
            <a:r>
              <a:rPr lang="it-IT" sz="1600" dirty="0">
                <a:sym typeface="Wingdings" panose="05000000000000000000" pitchFamily="2" charset="2"/>
              </a:rPr>
              <a:t> gain more </a:t>
            </a:r>
            <a:r>
              <a:rPr lang="it-IT" sz="1600" dirty="0" err="1">
                <a:sym typeface="Wingdings" panose="05000000000000000000" pitchFamily="2" charset="2"/>
              </a:rPr>
              <a:t>stability</a:t>
            </a:r>
            <a:r>
              <a:rPr lang="it-IT" sz="1600" dirty="0">
                <a:sym typeface="Wingdings" panose="05000000000000000000" pitchFamily="2" charset="2"/>
              </a:rPr>
              <a:t> (</a:t>
            </a:r>
            <a:r>
              <a:rPr lang="it-IT" sz="1600" dirty="0" err="1">
                <a:sym typeface="Wingdings" panose="05000000000000000000" pitchFamily="2" charset="2"/>
              </a:rPr>
              <a:t>fins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stability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decrease</a:t>
            </a:r>
            <a:r>
              <a:rPr lang="it-IT" sz="1600" dirty="0">
                <a:sym typeface="Wingdings" panose="05000000000000000000" pitchFamily="2" charset="2"/>
              </a:rPr>
              <a:t>)</a:t>
            </a:r>
          </a:p>
          <a:p>
            <a:pPr marL="914400" lvl="2" indent="0">
              <a:buNone/>
            </a:pPr>
            <a:endParaRPr lang="it-IT" sz="1600" dirty="0">
              <a:sym typeface="Wingdings" panose="05000000000000000000" pitchFamily="2" charset="2"/>
            </a:endParaRPr>
          </a:p>
          <a:p>
            <a:pPr marL="914400" lvl="2" indent="0">
              <a:buNone/>
            </a:pPr>
            <a:endParaRPr lang="it-IT" sz="1200" dirty="0">
              <a:sym typeface="Wingdings" panose="05000000000000000000" pitchFamily="2" charset="2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F7CFA84-10D7-F426-288C-3E87D3695A41}"/>
              </a:ext>
            </a:extLst>
          </p:cNvPr>
          <p:cNvSpPr txBox="1"/>
          <p:nvPr/>
        </p:nvSpPr>
        <p:spPr>
          <a:xfrm>
            <a:off x="838200" y="4087368"/>
            <a:ext cx="1058265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2-How? You can use </a:t>
            </a:r>
            <a:r>
              <a:rPr lang="it-IT" sz="1600" dirty="0" err="1"/>
              <a:t>different</a:t>
            </a:r>
            <a:r>
              <a:rPr lang="it-IT" sz="1600" dirty="0"/>
              <a:t> systems </a:t>
            </a:r>
            <a:r>
              <a:rPr lang="it-IT" sz="1600" dirty="0" err="1"/>
              <a:t>but</a:t>
            </a:r>
            <a:r>
              <a:rPr lang="it-IT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/>
              <a:t>Reaction </a:t>
            </a:r>
            <a:r>
              <a:rPr lang="it-IT" sz="1600" dirty="0" err="1"/>
              <a:t>wheels</a:t>
            </a:r>
            <a:r>
              <a:rPr lang="it-IT" sz="1600" dirty="0"/>
              <a:t> </a:t>
            </a:r>
            <a:r>
              <a:rPr lang="it-IT" sz="1600" dirty="0">
                <a:sym typeface="Wingdings" panose="05000000000000000000" pitchFamily="2" charset="2"/>
              </a:rPr>
              <a:t> X </a:t>
            </a:r>
            <a:r>
              <a:rPr lang="it-IT" sz="1600" dirty="0" err="1">
                <a:sym typeface="Wingdings" panose="05000000000000000000" pitchFamily="2" charset="2"/>
              </a:rPr>
              <a:t>poor</a:t>
            </a:r>
            <a:r>
              <a:rPr lang="it-IT" sz="1600" dirty="0">
                <a:sym typeface="Wingdings" panose="05000000000000000000" pitchFamily="2" charset="2"/>
              </a:rPr>
              <a:t> control authority </a:t>
            </a:r>
            <a:r>
              <a:rPr lang="it-IT" sz="1600" dirty="0" err="1">
                <a:sym typeface="Wingdings" panose="05000000000000000000" pitchFamily="2" charset="2"/>
              </a:rPr>
              <a:t>at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larger</a:t>
            </a:r>
            <a:r>
              <a:rPr lang="it-IT" sz="1600" dirty="0">
                <a:sym typeface="Wingdings" panose="05000000000000000000" pitchFamily="2" charset="2"/>
              </a:rPr>
              <a:t> scale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sym typeface="Wingdings" panose="05000000000000000000" pitchFamily="2" charset="2"/>
              </a:rPr>
              <a:t>Cold</a:t>
            </a:r>
            <a:r>
              <a:rPr lang="it-IT" sz="1600" dirty="0">
                <a:sym typeface="Wingdings" panose="05000000000000000000" pitchFamily="2" charset="2"/>
              </a:rPr>
              <a:t> gas </a:t>
            </a:r>
            <a:r>
              <a:rPr lang="it-IT" sz="1600" dirty="0" err="1">
                <a:sym typeface="Wingdings" panose="05000000000000000000" pitchFamily="2" charset="2"/>
              </a:rPr>
              <a:t>thrusters</a:t>
            </a:r>
            <a:r>
              <a:rPr lang="it-IT" sz="1600" dirty="0">
                <a:sym typeface="Wingdings" panose="05000000000000000000" pitchFamily="2" charset="2"/>
              </a:rPr>
              <a:t>  X heavy, </a:t>
            </a:r>
            <a:r>
              <a:rPr lang="it-IT" sz="1600" dirty="0" err="1">
                <a:sym typeface="Wingdings" panose="05000000000000000000" pitchFamily="2" charset="2"/>
              </a:rPr>
              <a:t>draggy</a:t>
            </a:r>
            <a:r>
              <a:rPr lang="it-IT" sz="1600" dirty="0">
                <a:sym typeface="Wingdings" panose="05000000000000000000" pitchFamily="2" charset="2"/>
              </a:rPr>
              <a:t>, </a:t>
            </a:r>
            <a:r>
              <a:rPr lang="it-IT" sz="1600" dirty="0" err="1">
                <a:sym typeface="Wingdings" panose="05000000000000000000" pitchFamily="2" charset="2"/>
              </a:rPr>
              <a:t>complex</a:t>
            </a:r>
            <a:endParaRPr lang="it-IT" sz="1600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>
                <a:sym typeface="Wingdings" panose="05000000000000000000" pitchFamily="2" charset="2"/>
              </a:rPr>
              <a:t>Canards  X </a:t>
            </a:r>
            <a:r>
              <a:rPr lang="it-IT" sz="1600" dirty="0" err="1">
                <a:sym typeface="Wingdings" panose="05000000000000000000" pitchFamily="2" charset="2"/>
              </a:rPr>
              <a:t>very</a:t>
            </a:r>
            <a:r>
              <a:rPr lang="it-IT" sz="1600" dirty="0">
                <a:sym typeface="Wingdings" panose="05000000000000000000" pitchFamily="2" charset="2"/>
              </a:rPr>
              <a:t> good on paper, </a:t>
            </a:r>
            <a:r>
              <a:rPr lang="it-IT" sz="1600" dirty="0" err="1">
                <a:sym typeface="Wingdings" panose="05000000000000000000" pitchFamily="2" charset="2"/>
              </a:rPr>
              <a:t>bad</a:t>
            </a:r>
            <a:r>
              <a:rPr lang="it-IT" sz="1600" dirty="0">
                <a:sym typeface="Wingdings" panose="05000000000000000000" pitchFamily="2" charset="2"/>
              </a:rPr>
              <a:t> dynamics </a:t>
            </a:r>
            <a:r>
              <a:rPr lang="it-IT" sz="1600" dirty="0" err="1">
                <a:sym typeface="Wingdings" panose="05000000000000000000" pitchFamily="2" charset="2"/>
              </a:rPr>
              <a:t>coupling</a:t>
            </a:r>
            <a:r>
              <a:rPr lang="it-IT" sz="1600" dirty="0">
                <a:sym typeface="Wingdings" panose="05000000000000000000" pitchFamily="2" charset="2"/>
              </a:rPr>
              <a:t> and </a:t>
            </a:r>
            <a:r>
              <a:rPr lang="it-IT" sz="1600" dirty="0" err="1">
                <a:sym typeface="Wingdings" panose="05000000000000000000" pitchFamily="2" charset="2"/>
              </a:rPr>
              <a:t>aerodynamics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effect</a:t>
            </a:r>
            <a:r>
              <a:rPr lang="it-IT" sz="1600" dirty="0">
                <a:sym typeface="Wingdings" panose="05000000000000000000" pitchFamily="2" charset="2"/>
              </a:rPr>
              <a:t> (</a:t>
            </a:r>
            <a:r>
              <a:rPr lang="it-IT" sz="1600" dirty="0" err="1">
                <a:sym typeface="Wingdings" panose="05000000000000000000" pitchFamily="2" charset="2"/>
              </a:rPr>
              <a:t>adverse</a:t>
            </a:r>
            <a:r>
              <a:rPr lang="it-IT" sz="1600" dirty="0">
                <a:sym typeface="Wingdings" panose="05000000000000000000" pitchFamily="2" charset="2"/>
              </a:rPr>
              <a:t> roll for </a:t>
            </a:r>
            <a:r>
              <a:rPr lang="it-IT" sz="1600" dirty="0" err="1">
                <a:sym typeface="Wingdings" panose="05000000000000000000" pitchFamily="2" charset="2"/>
              </a:rPr>
              <a:t>tip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vortices</a:t>
            </a:r>
            <a:r>
              <a:rPr lang="it-IT" sz="1600" dirty="0">
                <a:sym typeface="Wingdings" panose="05000000000000000000" pitchFamily="2" charset="2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sym typeface="Wingdings" panose="05000000000000000000" pitchFamily="2" charset="2"/>
              </a:rPr>
              <a:t>Tabs</a:t>
            </a:r>
            <a:r>
              <a:rPr lang="it-IT" sz="1600" dirty="0">
                <a:sym typeface="Wingdings" panose="05000000000000000000" pitchFamily="2" charset="2"/>
              </a:rPr>
              <a:t>  Good overall performance, small size and weight, </a:t>
            </a:r>
            <a:r>
              <a:rPr lang="it-IT" sz="1600" dirty="0" err="1">
                <a:sym typeface="Wingdings" panose="05000000000000000000" pitchFamily="2" charset="2"/>
              </a:rPr>
              <a:t>easier</a:t>
            </a:r>
            <a:r>
              <a:rPr lang="it-IT" sz="1600" dirty="0">
                <a:sym typeface="Wingdings" panose="05000000000000000000" pitchFamily="2" charset="2"/>
              </a:rPr>
              <a:t> control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201591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872CD0-F305-99F1-4063-F654BB7BF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1600" dirty="0"/>
              <a:t>2-How? </a:t>
            </a:r>
            <a:r>
              <a:rPr lang="it-IT" sz="1600" dirty="0" err="1"/>
              <a:t>Type</a:t>
            </a:r>
            <a:r>
              <a:rPr lang="it-IT" sz="1600" dirty="0"/>
              <a:t> of controllers: PID </a:t>
            </a:r>
            <a:r>
              <a:rPr lang="it-IT" sz="1600" dirty="0">
                <a:sym typeface="Wingdings" panose="05000000000000000000" pitchFamily="2" charset="2"/>
              </a:rPr>
              <a:t> OK, </a:t>
            </a:r>
            <a:r>
              <a:rPr lang="it-IT" sz="1600" dirty="0" err="1"/>
              <a:t>Since</a:t>
            </a:r>
            <a:r>
              <a:rPr lang="it-IT" sz="1600" dirty="0"/>
              <a:t> </a:t>
            </a:r>
            <a:r>
              <a:rPr lang="en-US" sz="1600" dirty="0"/>
              <a:t>both the disturbance torque (from misalignment/asymmetry) and the control torque (from tabs) scale with dynamic pressure (q ∝ v²):</a:t>
            </a:r>
          </a:p>
          <a:p>
            <a:pPr lvl="1"/>
            <a:r>
              <a:rPr lang="en-US" sz="1600" dirty="0"/>
              <a:t>Disturbance Torque: </a:t>
            </a:r>
            <a:r>
              <a:rPr lang="en-US" sz="1600" dirty="0" err="1"/>
              <a:t>τ_dist</a:t>
            </a:r>
            <a:r>
              <a:rPr lang="en-US" sz="1600" dirty="0"/>
              <a:t> = </a:t>
            </a:r>
            <a:r>
              <a:rPr lang="en-US" sz="1600" dirty="0" err="1"/>
              <a:t>C_dist</a:t>
            </a:r>
            <a:r>
              <a:rPr lang="en-US" sz="1600" dirty="0"/>
              <a:t> * q * A * L</a:t>
            </a:r>
          </a:p>
          <a:p>
            <a:pPr lvl="1"/>
            <a:r>
              <a:rPr lang="en-US" sz="1600" dirty="0"/>
              <a:t>Control Torque:     </a:t>
            </a:r>
            <a:r>
              <a:rPr lang="en-US" sz="1600" dirty="0" err="1"/>
              <a:t>τ_ctrl</a:t>
            </a:r>
            <a:r>
              <a:rPr lang="en-US" sz="1600" dirty="0"/>
              <a:t> = </a:t>
            </a:r>
            <a:r>
              <a:rPr lang="en-US" sz="1600" dirty="0" err="1"/>
              <a:t>C_ctrl</a:t>
            </a:r>
            <a:r>
              <a:rPr lang="en-US" sz="1600" dirty="0"/>
              <a:t> * q * A * L * δ</a:t>
            </a:r>
          </a:p>
          <a:p>
            <a:pPr marL="0" indent="0">
              <a:buNone/>
            </a:pPr>
            <a:r>
              <a:rPr lang="en-US" sz="1600" dirty="0"/>
              <a:t>      Since both scale the same way, their ratio remains constant across   flight speeds: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τ_ctrl</a:t>
            </a:r>
            <a:r>
              <a:rPr lang="en-US" sz="1600" dirty="0"/>
              <a:t> / </a:t>
            </a:r>
            <a:r>
              <a:rPr lang="en-US" sz="1600" dirty="0" err="1"/>
              <a:t>τ_dist</a:t>
            </a:r>
            <a:r>
              <a:rPr lang="en-US" sz="1600" dirty="0"/>
              <a:t> = (</a:t>
            </a:r>
            <a:r>
              <a:rPr lang="en-US" sz="1600" dirty="0" err="1"/>
              <a:t>C_ctrl</a:t>
            </a:r>
            <a:r>
              <a:rPr lang="en-US" sz="1600" dirty="0"/>
              <a:t> * δ) / </a:t>
            </a:r>
            <a:r>
              <a:rPr lang="en-US" sz="1600" dirty="0" err="1"/>
              <a:t>C_dist</a:t>
            </a:r>
            <a:r>
              <a:rPr lang="en-US" sz="1600" dirty="0"/>
              <a:t> = constant</a:t>
            </a:r>
          </a:p>
          <a:p>
            <a:pPr marL="0" indent="0">
              <a:buNone/>
            </a:pPr>
            <a:r>
              <a:rPr lang="en-US" sz="1600" dirty="0"/>
              <a:t>    This means the control authority relative to the disturbance doesn't change with speed - making the system         surprisingly linear </a:t>
            </a:r>
          </a:p>
          <a:p>
            <a:r>
              <a:rPr lang="en-US" sz="1600" dirty="0"/>
              <a:t>Sizing </a:t>
            </a:r>
            <a:r>
              <a:rPr lang="en-US" sz="1600" dirty="0">
                <a:sym typeface="Wingdings" panose="05000000000000000000" pitchFamily="2" charset="2"/>
              </a:rPr>
              <a:t> Simulation Tuning  Validation =&gt; Implementation</a:t>
            </a:r>
          </a:p>
          <a:p>
            <a:r>
              <a:rPr lang="en-US" sz="1600" dirty="0">
                <a:sym typeface="Wingdings" panose="05000000000000000000" pitchFamily="2" charset="2"/>
              </a:rPr>
              <a:t>The simplest way to simulate this is with a 2DOF Simulation </a:t>
            </a:r>
            <a:endParaRPr lang="it-IT" sz="1600" dirty="0"/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68E4961E-F0C9-46BC-E37C-1444165B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 dirty="0"/>
              <a:t>1-a Concept &amp; </a:t>
            </a:r>
            <a:r>
              <a:rPr lang="it-IT" dirty="0" err="1"/>
              <a:t>Motivations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03309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226C35-EEFB-67E6-C61A-9EB7D45F0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1-b Goals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313FC3-05FC-D0F3-200D-A0420BF0C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1600" dirty="0"/>
              <a:t>1) </a:t>
            </a:r>
            <a:r>
              <a:rPr lang="it-IT" sz="1600" dirty="0" err="1"/>
              <a:t>Stabilize</a:t>
            </a:r>
            <a:r>
              <a:rPr lang="it-IT" sz="1600" dirty="0"/>
              <a:t> the roll </a:t>
            </a:r>
            <a:r>
              <a:rPr lang="it-IT" sz="1600" dirty="0" err="1"/>
              <a:t>within</a:t>
            </a:r>
            <a:r>
              <a:rPr lang="it-IT" sz="1600" dirty="0"/>
              <a:t> 5° </a:t>
            </a:r>
            <a:r>
              <a:rPr lang="it-IT" sz="1600" dirty="0" err="1"/>
              <a:t>ideally</a:t>
            </a:r>
            <a:endParaRPr lang="it-IT" sz="1600" dirty="0"/>
          </a:p>
          <a:p>
            <a:r>
              <a:rPr lang="it-IT" sz="1600" dirty="0"/>
              <a:t>2) Complete a roll </a:t>
            </a:r>
            <a:r>
              <a:rPr lang="it-IT" sz="1600" dirty="0" err="1"/>
              <a:t>program</a:t>
            </a:r>
            <a:r>
              <a:rPr lang="it-IT" sz="1600" dirty="0"/>
              <a:t> ex: «0-90-0»</a:t>
            </a:r>
          </a:p>
        </p:txBody>
      </p:sp>
    </p:spTree>
    <p:extLst>
      <p:ext uri="{BB962C8B-B14F-4D97-AF65-F5344CB8AC3E}">
        <p14:creationId xmlns:p14="http://schemas.microsoft.com/office/powerpoint/2010/main" val="4229814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EB4E7B-ECBA-55BC-1866-47630B767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2-Dynamics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28E9F8-6A42-1FDF-9475-BCA6374DF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2DOF System </a:t>
            </a:r>
            <a:r>
              <a:rPr lang="it-IT" dirty="0">
                <a:sym typeface="Wingdings" panose="05000000000000000000" pitchFamily="2" charset="2"/>
              </a:rPr>
              <a:t> Z </a:t>
            </a:r>
            <a:r>
              <a:rPr lang="it-IT" dirty="0" err="1">
                <a:sym typeface="Wingdings" panose="05000000000000000000" pitchFamily="2" charset="2"/>
              </a:rPr>
              <a:t>translation</a:t>
            </a:r>
            <a:r>
              <a:rPr lang="it-IT" dirty="0">
                <a:sym typeface="Wingdings" panose="05000000000000000000" pitchFamily="2" charset="2"/>
              </a:rPr>
              <a:t> and </a:t>
            </a:r>
            <a:r>
              <a:rPr lang="it-IT" dirty="0" err="1">
                <a:sym typeface="Wingdings" panose="05000000000000000000" pitchFamily="2" charset="2"/>
              </a:rPr>
              <a:t>wZ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angular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velocity</a:t>
            </a:r>
            <a:r>
              <a:rPr lang="it-IT" dirty="0">
                <a:sym typeface="Wingdings" panose="05000000000000000000" pitchFamily="2" charset="2"/>
              </a:rPr>
              <a:t> (roll-rate)</a:t>
            </a:r>
          </a:p>
          <a:p>
            <a:r>
              <a:rPr lang="it-IT" dirty="0" err="1">
                <a:sym typeface="Wingdings" panose="05000000000000000000" pitchFamily="2" charset="2"/>
              </a:rPr>
              <a:t>Assumptions</a:t>
            </a:r>
            <a:r>
              <a:rPr lang="it-IT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Vertical </a:t>
            </a:r>
            <a:r>
              <a:rPr lang="it-IT" dirty="0" err="1">
                <a:sym typeface="Wingdings" panose="05000000000000000000" pitchFamily="2" charset="2"/>
              </a:rPr>
              <a:t>trajectory</a:t>
            </a:r>
            <a:endParaRPr lang="it-IT" dirty="0">
              <a:sym typeface="Wingdings" panose="05000000000000000000" pitchFamily="2" charset="2"/>
            </a:endParaRPr>
          </a:p>
          <a:p>
            <a:pPr lvl="1"/>
            <a:r>
              <a:rPr lang="it-IT" dirty="0">
                <a:sym typeface="Wingdings" panose="05000000000000000000" pitchFamily="2" charset="2"/>
              </a:rPr>
              <a:t>Spin </a:t>
            </a:r>
            <a:r>
              <a:rPr lang="it-IT" dirty="0" err="1">
                <a:sym typeface="Wingdings" panose="05000000000000000000" pitchFamily="2" charset="2"/>
              </a:rPr>
              <a:t>only</a:t>
            </a:r>
            <a:r>
              <a:rPr lang="it-IT" dirty="0">
                <a:sym typeface="Wingdings" panose="05000000000000000000" pitchFamily="2" charset="2"/>
              </a:rPr>
              <a:t> on Z </a:t>
            </a:r>
            <a:r>
              <a:rPr lang="it-IT" dirty="0" err="1">
                <a:sym typeface="Wingdings" panose="05000000000000000000" pitchFamily="2" charset="2"/>
              </a:rPr>
              <a:t>axis</a:t>
            </a:r>
            <a:endParaRPr lang="it-IT" dirty="0">
              <a:sym typeface="Wingdings" panose="05000000000000000000" pitchFamily="2" charset="2"/>
            </a:endParaRPr>
          </a:p>
          <a:p>
            <a:pPr lvl="1"/>
            <a:r>
              <a:rPr lang="it-IT" dirty="0">
                <a:sym typeface="Wingdings" panose="05000000000000000000" pitchFamily="2" charset="2"/>
              </a:rPr>
              <a:t>No wind</a:t>
            </a:r>
          </a:p>
          <a:p>
            <a:pPr lvl="1"/>
            <a:r>
              <a:rPr lang="it-IT" dirty="0" err="1">
                <a:sym typeface="Wingdings" panose="05000000000000000000" pitchFamily="2" charset="2"/>
              </a:rPr>
              <a:t>Only</a:t>
            </a:r>
            <a:r>
              <a:rPr lang="it-IT" dirty="0">
                <a:sym typeface="Wingdings" panose="05000000000000000000" pitchFamily="2" charset="2"/>
              </a:rPr>
              <a:t> control </a:t>
            </a:r>
            <a:r>
              <a:rPr lang="it-IT" dirty="0" err="1">
                <a:sym typeface="Wingdings" panose="05000000000000000000" pitchFamily="2" charset="2"/>
              </a:rPr>
              <a:t>during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ascent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78661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99BFF4-AB70-3624-C647-D13859611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2-a Reference System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B6C95E-F9B3-FBA1-5BA4-313E6154B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90543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C1E664-C896-A028-74B9-CA3F923BC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2-b </a:t>
            </a:r>
            <a:r>
              <a:rPr lang="it-IT" dirty="0" err="1"/>
              <a:t>Equations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EB75591-9388-2071-3CD5-B0FC919C8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 err="1"/>
                  <a:t>Translation</a:t>
                </a:r>
                <a:r>
                  <a:rPr lang="it-IT" dirty="0"/>
                  <a:t> </a:t>
                </a:r>
                <a:r>
                  <a:rPr lang="it-IT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it-IT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̅"/>
                            <m:ctrlPr>
                              <a:rPr lang="it-IT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 dirty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</m:nary>
                    <m:r>
                      <a:rPr lang="it-IT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̈"/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it-IT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endParaRPr lang="it-IT" dirty="0"/>
              </a:p>
              <a:p>
                <a:r>
                  <a:rPr lang="it-IT" dirty="0" err="1"/>
                  <a:t>Rotation</a:t>
                </a:r>
                <a:r>
                  <a:rPr lang="it-IT" dirty="0"/>
                  <a:t> </a:t>
                </a:r>
                <a:r>
                  <a:rPr lang="it-IT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it-IT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̅"/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</m:nary>
                    <m:r>
                      <a:rPr lang="it-IT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𝐼</m:t>
                    </m:r>
                    <m:acc>
                      <m:accPr>
                        <m:chr m:val="̇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acc>
                      </m:e>
                    </m:acc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EB75591-9388-2071-3CD5-B0FC919C8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000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D6313-A467-509F-EE51-37B5C596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2-c </a:t>
            </a:r>
            <a:r>
              <a:rPr lang="it-IT" dirty="0" err="1"/>
              <a:t>Aerodynamic</a:t>
            </a:r>
            <a:r>
              <a:rPr lang="it-IT" dirty="0"/>
              <a:t> </a:t>
            </a:r>
            <a:r>
              <a:rPr lang="it-IT" dirty="0" err="1"/>
              <a:t>Modeling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13E7FD-0781-FB1C-E324-255366AF0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5922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78EEE0-8F5D-8C67-2728-BF0451CD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2-d </a:t>
            </a:r>
            <a:r>
              <a:rPr lang="it-IT" dirty="0" err="1"/>
              <a:t>Disturbances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385F67-D8B8-5B78-6CBC-DD02E13D8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631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B4F02A-310D-45C1-31C6-6C30AF16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3- </a:t>
            </a:r>
            <a:r>
              <a:rPr lang="it-IT" dirty="0" err="1"/>
              <a:t>Modeling</a:t>
            </a:r>
            <a:r>
              <a:rPr lang="it-IT" dirty="0"/>
              <a:t> and </a:t>
            </a:r>
            <a:r>
              <a:rPr lang="it-IT" dirty="0" err="1"/>
              <a:t>Simulation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A6D1B6-0F2A-8F1D-F751-BFB8A0554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5336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CCF976-B9F7-541C-C88E-A2FDB48BC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3-a </a:t>
            </a:r>
            <a:r>
              <a:rPr lang="it-IT" dirty="0" err="1"/>
              <a:t>Implementation</a:t>
            </a:r>
            <a:r>
              <a:rPr lang="it-IT" dirty="0"/>
              <a:t> on </a:t>
            </a:r>
            <a:r>
              <a:rPr lang="it-IT" dirty="0" err="1"/>
              <a:t>Simulink</a:t>
            </a:r>
            <a:endParaRPr lang="it-IT" dirty="0"/>
          </a:p>
        </p:txBody>
      </p:sp>
      <p:pic>
        <p:nvPicPr>
          <p:cNvPr id="5" name="Immagine 4" descr="Immagine che contiene diagramma, schermata, Piano, linea&#10;&#10;Il contenuto generato dall'IA potrebbe non essere corretto.">
            <a:extLst>
              <a:ext uri="{FF2B5EF4-FFF2-40B4-BE49-F238E27FC236}">
                <a16:creationId xmlns:a16="http://schemas.microsoft.com/office/drawing/2014/main" id="{CAFC00EA-EB75-DBE2-086B-1E9F279DE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23" y="1690688"/>
            <a:ext cx="7909554" cy="448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831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AD16B0-E021-5345-81B6-0B836021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3-b </a:t>
            </a:r>
            <a:r>
              <a:rPr lang="it-IT" dirty="0" err="1"/>
              <a:t>Actuator</a:t>
            </a:r>
            <a:r>
              <a:rPr lang="it-IT" dirty="0"/>
              <a:t> Dynamics</a:t>
            </a:r>
          </a:p>
        </p:txBody>
      </p:sp>
      <p:pic>
        <p:nvPicPr>
          <p:cNvPr id="5" name="Immagine 4" descr="Immagine che contiene diagramma, schermata, linea, Piano&#10;&#10;Il contenuto generato dall'IA potrebbe non essere corretto.">
            <a:extLst>
              <a:ext uri="{FF2B5EF4-FFF2-40B4-BE49-F238E27FC236}">
                <a16:creationId xmlns:a16="http://schemas.microsoft.com/office/drawing/2014/main" id="{2A3B2552-AB7A-6B4E-A263-8D921470B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89" y="1974052"/>
            <a:ext cx="8554022" cy="36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71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48EEF2-F606-5B8D-335D-AC6B9B232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3-c Sensor </a:t>
            </a:r>
            <a:r>
              <a:rPr lang="it-IT" dirty="0" err="1"/>
              <a:t>Modeling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78A164-6542-1C94-59F7-693E174D9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0638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125694-47D7-8898-73E1-394F60AF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4-Control System Design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8A82AC-3016-687E-4900-38D5392B6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0616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5C2753-43DC-6CA4-5059-D21F6B06E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4-a Controller </a:t>
            </a:r>
            <a:r>
              <a:rPr lang="it-IT" dirty="0" err="1"/>
              <a:t>structure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8B4C35-F471-8368-D27C-2A7D1002D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3020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AF7BCB-E58E-1AC4-98F8-A60D7EA7F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4-b Control </a:t>
            </a:r>
            <a:r>
              <a:rPr lang="it-IT" dirty="0" err="1"/>
              <a:t>surfaces</a:t>
            </a:r>
            <a:r>
              <a:rPr lang="it-IT" dirty="0"/>
              <a:t> </a:t>
            </a:r>
            <a:r>
              <a:rPr lang="it-IT" dirty="0" err="1"/>
              <a:t>sizing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E3CB2C-1895-89D9-EAB6-46D73FA1B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1968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E16DF1-342B-960C-6225-33836D71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4-c Tuning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532D81-EC82-AC50-3EAE-ACBA3D87A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2053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E6DE43-B505-521C-B11B-DFFF8B48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4-d </a:t>
            </a:r>
            <a:r>
              <a:rPr lang="it-IT" dirty="0" err="1"/>
              <a:t>Stability</a:t>
            </a:r>
            <a:r>
              <a:rPr lang="it-IT" dirty="0"/>
              <a:t> and Performance</a:t>
            </a:r>
          </a:p>
        </p:txBody>
      </p:sp>
      <p:pic>
        <p:nvPicPr>
          <p:cNvPr id="4" name="Immagine 3" descr="Immagine che contiene schermata, linea, Parallelo, Rettangolo&#10;&#10;Il contenuto generato dall'IA potrebbe non essere corretto.">
            <a:extLst>
              <a:ext uri="{FF2B5EF4-FFF2-40B4-BE49-F238E27FC236}">
                <a16:creationId xmlns:a16="http://schemas.microsoft.com/office/drawing/2014/main" id="{5ECE5AEF-E850-1BBE-2AE5-26F098420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835"/>
            <a:ext cx="12192000" cy="596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51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F91727-9BF8-715D-80A4-9226222A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5-Embedded Systems </a:t>
            </a:r>
            <a:r>
              <a:rPr lang="it-IT" dirty="0" err="1"/>
              <a:t>Implementation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3628D4-E282-B716-879E-A7237C54A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4992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45BA7E-024A-06BD-F6E3-11847C94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5-a Hardware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B405B6-DD64-5018-F347-FC2036579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8594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8493A-42C7-501A-F61A-6656854C5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5-b Software </a:t>
            </a:r>
            <a:r>
              <a:rPr lang="it-IT" dirty="0" err="1"/>
              <a:t>architecture</a:t>
            </a:r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3408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A95DF-0355-FCC8-FFD0-35AEB353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F031DA-5802-E279-7839-8DDCE1AB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5-b Software </a:t>
            </a:r>
            <a:r>
              <a:rPr lang="it-IT" dirty="0" err="1"/>
              <a:t>architecture</a:t>
            </a:r>
            <a:r>
              <a:rPr lang="it-IT" dirty="0"/>
              <a:t> </a:t>
            </a: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E35ED7AD-107B-8017-6F1F-FC7636E4AA29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474470" y="1652280"/>
            <a:ext cx="2171700" cy="3840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A205640-4ADF-048D-8A06-CD66DBBEE69D}"/>
              </a:ext>
            </a:extLst>
          </p:cNvPr>
          <p:cNvSpPr txBox="1"/>
          <p:nvPr/>
        </p:nvSpPr>
        <p:spPr>
          <a:xfrm>
            <a:off x="3646170" y="1390670"/>
            <a:ext cx="821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CONFIG: </a:t>
            </a:r>
            <a:r>
              <a:rPr lang="it-IT" sz="1400" b="1" u="sng" dirty="0"/>
              <a:t>system </a:t>
            </a:r>
            <a:r>
              <a:rPr lang="it-IT" sz="1400" b="1" u="sng" dirty="0" err="1"/>
              <a:t>definition</a:t>
            </a:r>
            <a:r>
              <a:rPr lang="it-IT" sz="1400" dirty="0"/>
              <a:t>; </a:t>
            </a:r>
            <a:r>
              <a:rPr lang="it-IT" sz="1400" dirty="0" err="1"/>
              <a:t>contains</a:t>
            </a:r>
            <a:r>
              <a:rPr lang="it-IT" sz="1400" dirty="0"/>
              <a:t>: pin mapping, </a:t>
            </a:r>
            <a:r>
              <a:rPr lang="it-IT" sz="1400" dirty="0" err="1"/>
              <a:t>physical</a:t>
            </a:r>
            <a:r>
              <a:rPr lang="it-IT" sz="1400" dirty="0"/>
              <a:t> </a:t>
            </a:r>
            <a:r>
              <a:rPr lang="it-IT" sz="1400" dirty="0" err="1"/>
              <a:t>constants</a:t>
            </a:r>
            <a:r>
              <a:rPr lang="it-IT" sz="1400" dirty="0"/>
              <a:t>, </a:t>
            </a:r>
            <a:r>
              <a:rPr lang="it-IT" sz="1400" dirty="0" err="1"/>
              <a:t>sensor</a:t>
            </a:r>
            <a:r>
              <a:rPr lang="it-IT" sz="1400" dirty="0"/>
              <a:t> </a:t>
            </a:r>
            <a:r>
              <a:rPr lang="it-IT" sz="1400" dirty="0" err="1"/>
              <a:t>configuration</a:t>
            </a:r>
            <a:r>
              <a:rPr lang="it-IT" sz="1400" dirty="0"/>
              <a:t>, control system GAINS, </a:t>
            </a:r>
            <a:r>
              <a:rPr lang="it-IT" sz="1400" dirty="0" err="1"/>
              <a:t>flight</a:t>
            </a:r>
            <a:r>
              <a:rPr lang="it-IT" sz="1400" dirty="0"/>
              <a:t> </a:t>
            </a:r>
            <a:r>
              <a:rPr lang="it-IT" sz="1400" dirty="0" err="1"/>
              <a:t>parameters</a:t>
            </a:r>
            <a:r>
              <a:rPr lang="it-IT" sz="1400" dirty="0"/>
              <a:t> </a:t>
            </a:r>
            <a:r>
              <a:rPr lang="it-IT" sz="1400" dirty="0" err="1"/>
              <a:t>constants</a:t>
            </a:r>
            <a:endParaRPr lang="it-IT" sz="1400" dirty="0"/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843B3E3D-E6AA-6E78-3379-EE0541F8154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474470" y="1884997"/>
            <a:ext cx="2171700" cy="352384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B9ABFB9-7380-E1C0-CA21-17633FBCBFD2}"/>
              </a:ext>
            </a:extLst>
          </p:cNvPr>
          <p:cNvSpPr txBox="1"/>
          <p:nvPr/>
        </p:nvSpPr>
        <p:spPr>
          <a:xfrm>
            <a:off x="3646170" y="1975771"/>
            <a:ext cx="821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DRIVERS: </a:t>
            </a:r>
            <a:r>
              <a:rPr lang="it-IT" sz="1400" b="1" u="sng" dirty="0"/>
              <a:t>hardware </a:t>
            </a:r>
            <a:r>
              <a:rPr lang="it-IT" sz="1400" b="1" u="sng" dirty="0" err="1"/>
              <a:t>interface</a:t>
            </a:r>
            <a:r>
              <a:rPr lang="it-IT" sz="1400" b="1" u="sng" dirty="0"/>
              <a:t> </a:t>
            </a:r>
            <a:r>
              <a:rPr lang="it-IT" sz="1400" b="1" u="sng" dirty="0" err="1"/>
              <a:t>layer</a:t>
            </a:r>
            <a:r>
              <a:rPr lang="it-IT" sz="1400" dirty="0"/>
              <a:t>; </a:t>
            </a:r>
            <a:r>
              <a:rPr lang="it-IT" sz="1400" dirty="0" err="1"/>
              <a:t>contains</a:t>
            </a:r>
            <a:r>
              <a:rPr lang="it-IT" sz="1400" dirty="0"/>
              <a:t>: </a:t>
            </a:r>
            <a:r>
              <a:rPr lang="it-IT" sz="1400" dirty="0" err="1"/>
              <a:t>all</a:t>
            </a:r>
            <a:r>
              <a:rPr lang="it-IT" sz="1400" dirty="0"/>
              <a:t> </a:t>
            </a:r>
            <a:r>
              <a:rPr lang="it-IT" sz="1400" dirty="0" err="1"/>
              <a:t>sensors</a:t>
            </a:r>
            <a:r>
              <a:rPr lang="it-IT" sz="1400" dirty="0"/>
              <a:t> and hardware + </a:t>
            </a:r>
            <a:r>
              <a:rPr lang="it-IT" sz="1400" dirty="0" err="1"/>
              <a:t>telemetry</a:t>
            </a:r>
            <a:r>
              <a:rPr lang="it-IT" sz="1400" dirty="0"/>
              <a:t>; </a:t>
            </a:r>
            <a:r>
              <a:rPr lang="it-IT" sz="1400" dirty="0" err="1"/>
              <a:t>read</a:t>
            </a:r>
            <a:r>
              <a:rPr lang="it-IT" sz="1400" dirty="0"/>
              <a:t>/</a:t>
            </a:r>
            <a:r>
              <a:rPr lang="it-IT" sz="1400" dirty="0" err="1"/>
              <a:t>write</a:t>
            </a:r>
            <a:r>
              <a:rPr lang="it-IT" sz="1400" dirty="0"/>
              <a:t> hardware, </a:t>
            </a:r>
            <a:r>
              <a:rPr lang="it-IT" sz="1400" dirty="0" err="1"/>
              <a:t>convert</a:t>
            </a:r>
            <a:r>
              <a:rPr lang="it-IT" sz="1400" dirty="0"/>
              <a:t> </a:t>
            </a:r>
            <a:r>
              <a:rPr lang="it-IT" sz="1400" dirty="0" err="1"/>
              <a:t>raw</a:t>
            </a:r>
            <a:r>
              <a:rPr lang="it-IT" sz="1400" dirty="0"/>
              <a:t> I/O to </a:t>
            </a:r>
            <a:r>
              <a:rPr lang="it-IT" sz="1400" dirty="0" err="1"/>
              <a:t>basic</a:t>
            </a:r>
            <a:r>
              <a:rPr lang="it-IT" sz="1400" dirty="0"/>
              <a:t> </a:t>
            </a:r>
            <a:r>
              <a:rPr lang="it-IT" sz="1400" dirty="0" err="1"/>
              <a:t>units</a:t>
            </a:r>
            <a:endParaRPr lang="it-IT" sz="1400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A5E7010B-326A-074D-F3F6-8C5CCC7E2664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779270" y="3519411"/>
            <a:ext cx="1866900" cy="117607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9EAE560-C425-1D57-25FA-78640687CCB7}"/>
              </a:ext>
            </a:extLst>
          </p:cNvPr>
          <p:cNvSpPr txBox="1"/>
          <p:nvPr/>
        </p:nvSpPr>
        <p:spPr>
          <a:xfrm>
            <a:off x="3646170" y="3150079"/>
            <a:ext cx="82181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ESTIMATION: </a:t>
            </a:r>
            <a:r>
              <a:rPr lang="it-IT" sz="1400" b="1" u="sng" dirty="0"/>
              <a:t>turn </a:t>
            </a:r>
            <a:r>
              <a:rPr lang="en-US" sz="1400" b="1" u="sng" dirty="0"/>
              <a:t>raw sensor data into physical state</a:t>
            </a:r>
            <a:r>
              <a:rPr lang="it-IT" sz="1400" dirty="0"/>
              <a:t>; </a:t>
            </a:r>
            <a:r>
              <a:rPr lang="it-IT" sz="1400" dirty="0" err="1"/>
              <a:t>contains</a:t>
            </a:r>
            <a:r>
              <a:rPr lang="it-IT" sz="1400" dirty="0"/>
              <a:t>: </a:t>
            </a:r>
            <a:r>
              <a:rPr lang="it-IT" sz="1400" dirty="0" err="1"/>
              <a:t>attitude</a:t>
            </a:r>
            <a:r>
              <a:rPr lang="it-IT" sz="1400" dirty="0"/>
              <a:t> </a:t>
            </a:r>
            <a:r>
              <a:rPr lang="it-IT" sz="1400" dirty="0" err="1"/>
              <a:t>estimation</a:t>
            </a:r>
            <a:r>
              <a:rPr lang="it-IT" sz="1400" dirty="0"/>
              <a:t>, </a:t>
            </a:r>
            <a:r>
              <a:rPr lang="it-IT" sz="1400" dirty="0" err="1"/>
              <a:t>navigation</a:t>
            </a:r>
            <a:r>
              <a:rPr lang="it-IT" sz="1400" dirty="0"/>
              <a:t> (</a:t>
            </a:r>
            <a:r>
              <a:rPr lang="it-IT" sz="1400" dirty="0" err="1"/>
              <a:t>velocity</a:t>
            </a:r>
            <a:r>
              <a:rPr lang="it-IT" sz="1400" dirty="0"/>
              <a:t> and position), filters, </a:t>
            </a:r>
            <a:r>
              <a:rPr lang="it-IT" sz="1400" dirty="0" err="1"/>
              <a:t>quaternion</a:t>
            </a:r>
            <a:r>
              <a:rPr lang="it-IT" sz="1400" dirty="0"/>
              <a:t> </a:t>
            </a:r>
            <a:r>
              <a:rPr lang="it-IT" sz="1400" dirty="0" err="1"/>
              <a:t>math</a:t>
            </a:r>
            <a:r>
              <a:rPr lang="it-IT" sz="1400" dirty="0"/>
              <a:t>, IMU processing fusion; Outputs: roll, pitch, </a:t>
            </a:r>
            <a:r>
              <a:rPr lang="it-IT" sz="1400" dirty="0" err="1"/>
              <a:t>yaw</a:t>
            </a:r>
            <a:r>
              <a:rPr lang="it-IT" sz="1400" dirty="0"/>
              <a:t>, positions, </a:t>
            </a:r>
            <a:r>
              <a:rPr lang="it-IT" sz="1400" dirty="0" err="1"/>
              <a:t>velocities</a:t>
            </a:r>
            <a:r>
              <a:rPr lang="it-IT" sz="1400" dirty="0"/>
              <a:t>.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441FB891-16EB-AF4D-F6C6-2A622C1E3A6F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1377315" y="4334657"/>
            <a:ext cx="2268855" cy="128198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73E22276-BF8E-732A-F6E3-1E2DD985101F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065020" y="5125697"/>
            <a:ext cx="1581150" cy="69469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5D936E6-EF0D-7A13-B298-4C0B848FB114}"/>
              </a:ext>
            </a:extLst>
          </p:cNvPr>
          <p:cNvSpPr txBox="1"/>
          <p:nvPr/>
        </p:nvSpPr>
        <p:spPr>
          <a:xfrm>
            <a:off x="3646170" y="4073047"/>
            <a:ext cx="821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SHARED: </a:t>
            </a:r>
            <a:r>
              <a:rPr lang="en-US" sz="1400" b="1" u="sng" dirty="0"/>
              <a:t>global runtime state (single source of truth)</a:t>
            </a:r>
            <a:r>
              <a:rPr lang="it-IT" sz="1400" dirty="0"/>
              <a:t>; </a:t>
            </a:r>
            <a:r>
              <a:rPr lang="it-IT" sz="1400" dirty="0" err="1"/>
              <a:t>contains</a:t>
            </a:r>
            <a:r>
              <a:rPr lang="it-IT" sz="1400" dirty="0"/>
              <a:t>: system state, </a:t>
            </a:r>
            <a:r>
              <a:rPr lang="it-IT" sz="1400" dirty="0" err="1"/>
              <a:t>shared</a:t>
            </a:r>
            <a:r>
              <a:rPr lang="it-IT" sz="1400" dirty="0"/>
              <a:t> </a:t>
            </a:r>
            <a:r>
              <a:rPr lang="it-IT" sz="1400" dirty="0" err="1"/>
              <a:t>sensor</a:t>
            </a:r>
            <a:r>
              <a:rPr lang="it-IT" sz="1400" dirty="0"/>
              <a:t> </a:t>
            </a:r>
            <a:r>
              <a:rPr lang="it-IT" sz="1400" dirty="0" err="1"/>
              <a:t>values</a:t>
            </a:r>
            <a:r>
              <a:rPr lang="it-IT" sz="1400" dirty="0"/>
              <a:t>, </a:t>
            </a:r>
            <a:r>
              <a:rPr lang="it-IT" sz="1400" dirty="0" err="1"/>
              <a:t>commands</a:t>
            </a:r>
            <a:r>
              <a:rPr lang="it-IT" sz="1400" dirty="0"/>
              <a:t>, flags.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05D312F5-20F0-43A0-B201-3D3B064E8ED2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1340167" y="5837816"/>
            <a:ext cx="2306003" cy="2512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F2BC065-A85B-C97B-94AD-B197FB5BCD12}"/>
              </a:ext>
            </a:extLst>
          </p:cNvPr>
          <p:cNvSpPr txBox="1"/>
          <p:nvPr/>
        </p:nvSpPr>
        <p:spPr>
          <a:xfrm>
            <a:off x="3646170" y="4864087"/>
            <a:ext cx="821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STATE MACHINE: </a:t>
            </a:r>
            <a:r>
              <a:rPr lang="it-IT" sz="1400" b="1" u="sng" dirty="0"/>
              <a:t>mission </a:t>
            </a:r>
            <a:r>
              <a:rPr lang="it-IT" sz="1400" b="1" u="sng" dirty="0" err="1"/>
              <a:t>logic</a:t>
            </a:r>
            <a:r>
              <a:rPr lang="it-IT" sz="1400" b="1" u="sng" dirty="0"/>
              <a:t> brain</a:t>
            </a:r>
            <a:r>
              <a:rPr lang="it-IT" sz="1400" dirty="0"/>
              <a:t>; </a:t>
            </a:r>
            <a:r>
              <a:rPr lang="it-IT" sz="1400" dirty="0" err="1"/>
              <a:t>contains</a:t>
            </a:r>
            <a:r>
              <a:rPr lang="it-IT" sz="1400" dirty="0"/>
              <a:t>: operative mode </a:t>
            </a:r>
            <a:r>
              <a:rPr lang="it-IT" sz="1400" dirty="0" err="1"/>
              <a:t>states</a:t>
            </a:r>
            <a:r>
              <a:rPr lang="it-IT" sz="1400" dirty="0"/>
              <a:t> (0-6), </a:t>
            </a:r>
            <a:r>
              <a:rPr lang="it-IT" sz="1400" dirty="0" err="1"/>
              <a:t>transition</a:t>
            </a:r>
            <a:r>
              <a:rPr lang="it-IT" sz="1400" dirty="0"/>
              <a:t> </a:t>
            </a:r>
            <a:r>
              <a:rPr lang="it-IT" sz="1400" dirty="0" err="1"/>
              <a:t>conditions</a:t>
            </a:r>
            <a:r>
              <a:rPr lang="it-IT" sz="1400" dirty="0"/>
              <a:t>, </a:t>
            </a:r>
            <a:r>
              <a:rPr lang="it-IT" sz="1400" dirty="0" err="1"/>
              <a:t>safety</a:t>
            </a:r>
            <a:r>
              <a:rPr lang="it-IT" sz="1400" dirty="0"/>
              <a:t> </a:t>
            </a:r>
            <a:r>
              <a:rPr lang="it-IT" sz="1400" dirty="0" err="1"/>
              <a:t>logic</a:t>
            </a:r>
            <a:r>
              <a:rPr lang="it-IT" sz="1400" dirty="0"/>
              <a:t>, event </a:t>
            </a:r>
            <a:r>
              <a:rPr lang="it-IT" sz="1400" dirty="0" err="1"/>
              <a:t>interpretation</a:t>
            </a:r>
            <a:r>
              <a:rPr lang="it-IT" sz="1400" dirty="0"/>
              <a:t>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5172B2A-7BEC-C996-812A-E2657719A752}"/>
              </a:ext>
            </a:extLst>
          </p:cNvPr>
          <p:cNvSpPr txBox="1"/>
          <p:nvPr/>
        </p:nvSpPr>
        <p:spPr>
          <a:xfrm>
            <a:off x="3646170" y="5576206"/>
            <a:ext cx="821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TASKS: </a:t>
            </a:r>
            <a:r>
              <a:rPr lang="it-IT" sz="1400" b="1" u="sng" dirty="0" err="1"/>
              <a:t>runtime</a:t>
            </a:r>
            <a:r>
              <a:rPr lang="it-IT" sz="1400" b="1" u="sng" dirty="0"/>
              <a:t> </a:t>
            </a:r>
            <a:r>
              <a:rPr lang="it-IT" sz="1400" b="1" u="sng" dirty="0" err="1"/>
              <a:t>execution</a:t>
            </a:r>
            <a:r>
              <a:rPr lang="it-IT" sz="1400" b="1" u="sng" dirty="0"/>
              <a:t> </a:t>
            </a:r>
            <a:r>
              <a:rPr lang="it-IT" sz="1400" b="1" u="sng" dirty="0" err="1"/>
              <a:t>scheduler</a:t>
            </a:r>
            <a:r>
              <a:rPr lang="it-IT" sz="1400" b="1" u="sng" dirty="0"/>
              <a:t> (RTOS)</a:t>
            </a:r>
            <a:r>
              <a:rPr lang="it-IT" sz="1400" dirty="0"/>
              <a:t>;</a:t>
            </a:r>
            <a:r>
              <a:rPr lang="it-IT" sz="1400" b="1" u="sng" dirty="0"/>
              <a:t> </a:t>
            </a:r>
            <a:r>
              <a:rPr lang="it-IT" sz="1400" dirty="0" err="1"/>
              <a:t>contains</a:t>
            </a:r>
            <a:r>
              <a:rPr lang="it-IT" sz="1400" dirty="0"/>
              <a:t>: task. ; </a:t>
            </a:r>
            <a:r>
              <a:rPr lang="it-IT" sz="1400" dirty="0" err="1"/>
              <a:t>Manage</a:t>
            </a:r>
            <a:r>
              <a:rPr lang="it-IT" sz="1400" dirty="0"/>
              <a:t> timing (</a:t>
            </a:r>
            <a:r>
              <a:rPr lang="it-IT" sz="1400" dirty="0" err="1"/>
              <a:t>dt</a:t>
            </a:r>
            <a:r>
              <a:rPr lang="it-IT" sz="1400" dirty="0"/>
              <a:t>), </a:t>
            </a:r>
            <a:r>
              <a:rPr lang="it-IT" sz="1400" dirty="0" err="1"/>
              <a:t>ensure</a:t>
            </a:r>
            <a:r>
              <a:rPr lang="it-IT" sz="1400" dirty="0"/>
              <a:t> system </a:t>
            </a:r>
            <a:r>
              <a:rPr lang="it-IT" sz="1400" dirty="0" err="1"/>
              <a:t>runs</a:t>
            </a:r>
            <a:r>
              <a:rPr lang="it-IT" sz="1400" dirty="0"/>
              <a:t> </a:t>
            </a:r>
            <a:r>
              <a:rPr lang="it-IT" sz="1400" dirty="0" err="1"/>
              <a:t>deterministically</a:t>
            </a:r>
            <a:r>
              <a:rPr lang="it-IT" sz="1400" dirty="0"/>
              <a:t>, call </a:t>
            </a:r>
            <a:r>
              <a:rPr lang="it-IT" sz="1400" dirty="0" err="1"/>
              <a:t>modules</a:t>
            </a:r>
            <a:r>
              <a:rPr lang="it-IT" sz="1400" dirty="0"/>
              <a:t> in </a:t>
            </a:r>
            <a:r>
              <a:rPr lang="it-IT" sz="1400" dirty="0" err="1"/>
              <a:t>correct</a:t>
            </a:r>
            <a:r>
              <a:rPr lang="it-IT" sz="1400" dirty="0"/>
              <a:t> </a:t>
            </a:r>
            <a:r>
              <a:rPr lang="it-IT" sz="1400" dirty="0" err="1"/>
              <a:t>order</a:t>
            </a:r>
            <a:endParaRPr lang="it-IT" sz="14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2A76E2C-8478-B7D6-1AD4-7880089F6C4F}"/>
              </a:ext>
            </a:extLst>
          </p:cNvPr>
          <p:cNvSpPr txBox="1"/>
          <p:nvPr/>
        </p:nvSpPr>
        <p:spPr>
          <a:xfrm>
            <a:off x="3646170" y="6231265"/>
            <a:ext cx="821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UTILS: </a:t>
            </a:r>
            <a:r>
              <a:rPr lang="it-IT" sz="1400" b="1" u="sng" dirty="0" err="1"/>
              <a:t>reusable</a:t>
            </a:r>
            <a:r>
              <a:rPr lang="it-IT" sz="1400" b="1" u="sng" dirty="0"/>
              <a:t> pure </a:t>
            </a:r>
            <a:r>
              <a:rPr lang="it-IT" sz="1400" b="1" u="sng" dirty="0" err="1"/>
              <a:t>functions</a:t>
            </a:r>
            <a:r>
              <a:rPr lang="it-IT" sz="1400" dirty="0"/>
              <a:t>; </a:t>
            </a:r>
            <a:r>
              <a:rPr lang="it-IT" sz="1400" dirty="0" err="1"/>
              <a:t>contains</a:t>
            </a:r>
            <a:r>
              <a:rPr lang="it-IT" sz="1400" dirty="0"/>
              <a:t>: </a:t>
            </a:r>
            <a:r>
              <a:rPr lang="it-IT" sz="1400" dirty="0" err="1"/>
              <a:t>math</a:t>
            </a:r>
            <a:r>
              <a:rPr lang="it-IT" sz="1400" dirty="0"/>
              <a:t> utilities, filters, </a:t>
            </a:r>
            <a:r>
              <a:rPr lang="it-IT" sz="1400" dirty="0" err="1"/>
              <a:t>quaternion</a:t>
            </a:r>
            <a:r>
              <a:rPr lang="it-IT" sz="1400" dirty="0"/>
              <a:t> </a:t>
            </a:r>
            <a:r>
              <a:rPr lang="it-IT" sz="1400" dirty="0" err="1"/>
              <a:t>math</a:t>
            </a:r>
            <a:r>
              <a:rPr lang="it-IT" sz="1400" dirty="0"/>
              <a:t> </a:t>
            </a:r>
            <a:r>
              <a:rPr lang="it-IT" sz="1400" dirty="0" err="1"/>
              <a:t>helpers</a:t>
            </a:r>
            <a:r>
              <a:rPr lang="it-IT" sz="1400" dirty="0"/>
              <a:t>, timing </a:t>
            </a:r>
            <a:r>
              <a:rPr lang="it-IT" sz="1400" dirty="0" err="1"/>
              <a:t>helpers</a:t>
            </a:r>
            <a:r>
              <a:rPr lang="it-IT" sz="1400" dirty="0"/>
              <a:t>, </a:t>
            </a:r>
            <a:r>
              <a:rPr lang="it-IT" sz="1400" dirty="0" err="1"/>
              <a:t>unit</a:t>
            </a:r>
            <a:r>
              <a:rPr lang="it-IT" sz="1400" dirty="0"/>
              <a:t> </a:t>
            </a:r>
            <a:r>
              <a:rPr lang="it-IT" sz="1400" dirty="0" err="1"/>
              <a:t>conversion</a:t>
            </a:r>
            <a:r>
              <a:rPr lang="it-IT" sz="1400" dirty="0"/>
              <a:t> </a:t>
            </a:r>
            <a:r>
              <a:rPr lang="it-IT" sz="1400" dirty="0" err="1"/>
              <a:t>if</a:t>
            </a:r>
            <a:r>
              <a:rPr lang="it-IT" sz="1400" dirty="0"/>
              <a:t> </a:t>
            </a:r>
            <a:r>
              <a:rPr lang="it-IT" sz="1400" dirty="0" err="1"/>
              <a:t>complex</a:t>
            </a:r>
            <a:r>
              <a:rPr lang="it-IT" sz="1400" dirty="0"/>
              <a:t>.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AEDE5EC7-93ED-B287-6819-D8857CF3B4EF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1377315" y="6314870"/>
            <a:ext cx="2268855" cy="17800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Immagine 16">
            <a:extLst>
              <a:ext uri="{FF2B5EF4-FFF2-40B4-BE49-F238E27FC236}">
                <a16:creationId xmlns:a16="http://schemas.microsoft.com/office/drawing/2014/main" id="{D92CF90F-A2BA-2D68-F96C-920F6B3E9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1" y="1314450"/>
            <a:ext cx="2559498" cy="539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04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8168E8-A67B-AA17-B702-FB4C978C4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Estimation</a:t>
            </a:r>
            <a:r>
              <a:rPr lang="it-IT" dirty="0"/>
              <a:t> – </a:t>
            </a:r>
            <a:r>
              <a:rPr lang="it-IT" dirty="0" err="1"/>
              <a:t>Attitude</a:t>
            </a:r>
            <a:r>
              <a:rPr lang="it-IT" dirty="0"/>
              <a:t> (v1.0)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97EC16-E10A-6892-B929-7CF8879F8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Pitch</a:t>
            </a:r>
          </a:p>
          <a:p>
            <a:r>
              <a:rPr lang="it-IT" dirty="0"/>
              <a:t>Yaw </a:t>
            </a:r>
          </a:p>
          <a:p>
            <a:r>
              <a:rPr lang="it-IT" dirty="0"/>
              <a:t>Roll</a:t>
            </a:r>
          </a:p>
          <a:p>
            <a:r>
              <a:rPr lang="it-IT" dirty="0"/>
              <a:t>Heading </a:t>
            </a:r>
          </a:p>
        </p:txBody>
      </p:sp>
    </p:spTree>
    <p:extLst>
      <p:ext uri="{BB962C8B-B14F-4D97-AF65-F5344CB8AC3E}">
        <p14:creationId xmlns:p14="http://schemas.microsoft.com/office/powerpoint/2010/main" val="2411099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1E08350B-7FF9-1E9A-AEC4-7F2130FE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37" y="23641"/>
            <a:ext cx="10515600" cy="1325563"/>
          </a:xfrm>
        </p:spPr>
        <p:txBody>
          <a:bodyPr/>
          <a:lstStyle/>
          <a:p>
            <a:r>
              <a:rPr lang="it-IT" dirty="0" err="1"/>
              <a:t>Estimation</a:t>
            </a:r>
            <a:r>
              <a:rPr lang="it-IT" dirty="0"/>
              <a:t> – </a:t>
            </a:r>
            <a:r>
              <a:rPr lang="it-IT" dirty="0" err="1"/>
              <a:t>Attitude</a:t>
            </a:r>
            <a:r>
              <a:rPr lang="it-IT" dirty="0"/>
              <a:t> (v1.0)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D73339A5-6DED-025D-B537-776C38856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769" y="1097280"/>
            <a:ext cx="7317841" cy="543990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8571265-019E-4848-D2C7-73EC6ACB85B3}"/>
              </a:ext>
            </a:extLst>
          </p:cNvPr>
          <p:cNvSpPr txBox="1"/>
          <p:nvPr/>
        </p:nvSpPr>
        <p:spPr>
          <a:xfrm>
            <a:off x="694944" y="1097280"/>
            <a:ext cx="2441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Pitch , Yaw , Roll</a:t>
            </a:r>
          </a:p>
        </p:txBody>
      </p:sp>
    </p:spTree>
    <p:extLst>
      <p:ext uri="{BB962C8B-B14F-4D97-AF65-F5344CB8AC3E}">
        <p14:creationId xmlns:p14="http://schemas.microsoft.com/office/powerpoint/2010/main" val="197142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F751D2-DD7B-E276-E789-53B1E64B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NAVIGATION STATE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C1A9A3-CE92-74A0-E9E7-BC03B84F7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Lat</a:t>
            </a:r>
          </a:p>
          <a:p>
            <a:r>
              <a:rPr lang="it-IT" dirty="0" err="1"/>
              <a:t>Lng</a:t>
            </a:r>
            <a:endParaRPr lang="it-IT" dirty="0"/>
          </a:p>
          <a:p>
            <a:r>
              <a:rPr lang="it-IT" dirty="0"/>
              <a:t>X</a:t>
            </a:r>
          </a:p>
          <a:p>
            <a:r>
              <a:rPr lang="it-IT" dirty="0"/>
              <a:t>Y</a:t>
            </a:r>
          </a:p>
          <a:p>
            <a:r>
              <a:rPr lang="it-IT" dirty="0"/>
              <a:t>al </a:t>
            </a:r>
          </a:p>
          <a:p>
            <a:r>
              <a:rPr lang="it-IT" dirty="0" err="1"/>
              <a:t>Vx</a:t>
            </a:r>
            <a:endParaRPr lang="it-IT" dirty="0"/>
          </a:p>
          <a:p>
            <a:r>
              <a:rPr lang="it-IT" dirty="0" err="1"/>
              <a:t>Vy</a:t>
            </a:r>
            <a:endParaRPr lang="it-IT" dirty="0"/>
          </a:p>
          <a:p>
            <a:r>
              <a:rPr lang="it-IT" dirty="0" err="1"/>
              <a:t>Vz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37389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CD3BED78-06CC-0940-0615-FF03698B8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37" y="23641"/>
            <a:ext cx="10515600" cy="1325563"/>
          </a:xfrm>
        </p:spPr>
        <p:txBody>
          <a:bodyPr/>
          <a:lstStyle/>
          <a:p>
            <a:r>
              <a:rPr lang="it-IT" dirty="0" err="1"/>
              <a:t>Estimation</a:t>
            </a:r>
            <a:r>
              <a:rPr lang="it-IT" dirty="0"/>
              <a:t> –</a:t>
            </a:r>
            <a:r>
              <a:rPr lang="it-IT" dirty="0" err="1"/>
              <a:t>Navigation</a:t>
            </a:r>
            <a:r>
              <a:rPr lang="it-IT" dirty="0"/>
              <a:t> (v1.0)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8B27E91-E59C-ABE3-5244-9AEB69C92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29" y="1470431"/>
            <a:ext cx="9701784" cy="154677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D97C1186-C81B-2C73-8AC1-4AFCBC2AF751}"/>
              </a:ext>
            </a:extLst>
          </p:cNvPr>
          <p:cNvSpPr txBox="1"/>
          <p:nvPr/>
        </p:nvSpPr>
        <p:spPr>
          <a:xfrm>
            <a:off x="667133" y="1106424"/>
            <a:ext cx="596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Z Position - </a:t>
            </a:r>
            <a:r>
              <a:rPr lang="it-IT" dirty="0" err="1"/>
              <a:t>estimation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EED6981-2774-3360-BD94-C3DD216B804D}"/>
              </a:ext>
            </a:extLst>
          </p:cNvPr>
          <p:cNvSpPr txBox="1"/>
          <p:nvPr/>
        </p:nvSpPr>
        <p:spPr>
          <a:xfrm>
            <a:off x="758952" y="3605933"/>
            <a:ext cx="2450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Z </a:t>
            </a:r>
            <a:r>
              <a:rPr lang="it-IT" dirty="0" err="1"/>
              <a:t>Velocity</a:t>
            </a:r>
            <a:r>
              <a:rPr lang="it-IT" dirty="0"/>
              <a:t> - </a:t>
            </a:r>
            <a:r>
              <a:rPr lang="it-IT" dirty="0" err="1"/>
              <a:t>estimation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528FD72-0B38-B75C-E869-EEB5FFB6E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2" y="3975265"/>
            <a:ext cx="10456459" cy="2813958"/>
          </a:xfrm>
          <a:prstGeom prst="rect">
            <a:avLst/>
          </a:prstGeom>
        </p:spPr>
      </p:pic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04D4619-7ABC-C30E-5C02-9C01459E8383}"/>
              </a:ext>
            </a:extLst>
          </p:cNvPr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e 10">
            <a:extLst>
              <a:ext uri="{FF2B5EF4-FFF2-40B4-BE49-F238E27FC236}">
                <a16:creationId xmlns:a16="http://schemas.microsoft.com/office/drawing/2014/main" id="{39039354-B2A1-2B45-F79E-D42C0BEB8475}"/>
              </a:ext>
            </a:extLst>
          </p:cNvPr>
          <p:cNvSpPr/>
          <p:nvPr/>
        </p:nvSpPr>
        <p:spPr>
          <a:xfrm>
            <a:off x="9454896" y="1718536"/>
            <a:ext cx="1224917" cy="979887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6E551FB6-4DA1-4F0E-060D-1269B38F4A19}"/>
              </a:ext>
            </a:extLst>
          </p:cNvPr>
          <p:cNvSpPr/>
          <p:nvPr/>
        </p:nvSpPr>
        <p:spPr>
          <a:xfrm>
            <a:off x="10283952" y="5643271"/>
            <a:ext cx="1224917" cy="979887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0889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1742DC65-DE6E-17C3-E817-860CB5122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37" y="23641"/>
            <a:ext cx="10515600" cy="1325563"/>
          </a:xfrm>
        </p:spPr>
        <p:txBody>
          <a:bodyPr/>
          <a:lstStyle/>
          <a:p>
            <a:r>
              <a:rPr lang="it-IT" dirty="0" err="1"/>
              <a:t>Estimation</a:t>
            </a:r>
            <a:r>
              <a:rPr lang="it-IT" dirty="0"/>
              <a:t> –</a:t>
            </a:r>
            <a:r>
              <a:rPr lang="it-IT" dirty="0" err="1"/>
              <a:t>Navigation</a:t>
            </a:r>
            <a:r>
              <a:rPr lang="it-IT" dirty="0"/>
              <a:t> (v1.0)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54A4814-B2C2-DA03-8F69-D3F2E0173F59}"/>
              </a:ext>
            </a:extLst>
          </p:cNvPr>
          <p:cNvSpPr txBox="1"/>
          <p:nvPr/>
        </p:nvSpPr>
        <p:spPr>
          <a:xfrm>
            <a:off x="667133" y="1106424"/>
            <a:ext cx="596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X,Y Position - </a:t>
            </a:r>
            <a:r>
              <a:rPr lang="it-IT" dirty="0" err="1"/>
              <a:t>estimation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98D0BB2-4E0D-9F73-F046-6271EA68F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33" y="1664208"/>
            <a:ext cx="10927136" cy="408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0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96969C0E-6C89-FA15-6F68-4375CD047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37" y="23641"/>
            <a:ext cx="10515600" cy="1325563"/>
          </a:xfrm>
        </p:spPr>
        <p:txBody>
          <a:bodyPr/>
          <a:lstStyle/>
          <a:p>
            <a:r>
              <a:rPr lang="it-IT" dirty="0" err="1"/>
              <a:t>Estimation</a:t>
            </a:r>
            <a:r>
              <a:rPr lang="it-IT" dirty="0"/>
              <a:t> –</a:t>
            </a:r>
            <a:r>
              <a:rPr lang="it-IT" dirty="0" err="1"/>
              <a:t>Navigation</a:t>
            </a:r>
            <a:r>
              <a:rPr lang="it-IT" dirty="0"/>
              <a:t> (v1.0)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5F8CECB-9180-6451-6800-6BAE49FC0538}"/>
              </a:ext>
            </a:extLst>
          </p:cNvPr>
          <p:cNvSpPr txBox="1"/>
          <p:nvPr/>
        </p:nvSpPr>
        <p:spPr>
          <a:xfrm>
            <a:off x="667133" y="1106424"/>
            <a:ext cx="596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X,Y </a:t>
            </a:r>
            <a:r>
              <a:rPr lang="it-IT" dirty="0" err="1"/>
              <a:t>Velocity</a:t>
            </a:r>
            <a:r>
              <a:rPr lang="it-IT" dirty="0"/>
              <a:t>- </a:t>
            </a:r>
            <a:r>
              <a:rPr lang="it-IT" dirty="0" err="1"/>
              <a:t>estimation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74B600B-9384-66CE-21FB-422B5ECA9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27" y="1879993"/>
            <a:ext cx="11512296" cy="346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05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98F28B0-A690-46D8-9458-3142E417A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8"/>
          <a:stretch>
            <a:fillRect/>
          </a:stretch>
        </p:blipFill>
        <p:spPr>
          <a:xfrm rot="16200000">
            <a:off x="2667000" y="-2667001"/>
            <a:ext cx="6858000" cy="1219199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5C87A68-953B-472C-2224-854AFFCBCB6F}"/>
              </a:ext>
            </a:extLst>
          </p:cNvPr>
          <p:cNvSpPr txBox="1"/>
          <p:nvPr/>
        </p:nvSpPr>
        <p:spPr>
          <a:xfrm>
            <a:off x="2504815" y="1417972"/>
            <a:ext cx="66659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DRIVERS (raw)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↓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PROCESSING (physics clean data)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↓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ESTIMATION (EKF)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↓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FLIGHT STATE (decisions)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↓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ACTUATORS (execution)</a:t>
            </a: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562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286F93-010F-FD9B-5599-2AB35DC4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5-c C++ code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11D413CB-59D0-2D04-D21A-27B1C19BA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26025"/>
            <a:ext cx="10515600" cy="1325563"/>
          </a:xfrm>
        </p:spPr>
        <p:txBody>
          <a:bodyPr/>
          <a:lstStyle/>
          <a:p>
            <a:r>
              <a:rPr lang="it-IT" dirty="0"/>
              <a:t>Export the gains and N to </a:t>
            </a:r>
            <a:r>
              <a:rPr lang="it-IT" dirty="0" err="1"/>
              <a:t>vscode</a:t>
            </a:r>
            <a:r>
              <a:rPr lang="it-IT" dirty="0"/>
              <a:t> and build a PID controller (finite </a:t>
            </a:r>
            <a:r>
              <a:rPr lang="it-IT" dirty="0" err="1"/>
              <a:t>difference</a:t>
            </a:r>
            <a:r>
              <a:rPr lang="it-IT" dirty="0"/>
              <a:t> and </a:t>
            </a:r>
            <a:r>
              <a:rPr lang="it-IT" dirty="0" err="1"/>
              <a:t>forward</a:t>
            </a:r>
            <a:r>
              <a:rPr lang="it-IT" dirty="0"/>
              <a:t> </a:t>
            </a:r>
            <a:r>
              <a:rPr lang="it-IT" dirty="0" err="1"/>
              <a:t>forward</a:t>
            </a:r>
            <a:r>
              <a:rPr lang="it-IT" dirty="0"/>
              <a:t> </a:t>
            </a:r>
            <a:r>
              <a:rPr lang="it-IT" dirty="0" err="1"/>
              <a:t>euler</a:t>
            </a:r>
            <a:r>
              <a:rPr lang="it-IT" dirty="0"/>
              <a:t> </a:t>
            </a:r>
            <a:r>
              <a:rPr lang="it-IT" dirty="0" err="1"/>
              <a:t>integration</a:t>
            </a:r>
            <a:r>
              <a:rPr lang="it-IT" dirty="0"/>
              <a:t>) use a </a:t>
            </a:r>
            <a:r>
              <a:rPr lang="it-IT" dirty="0" err="1"/>
              <a:t>exponential</a:t>
            </a:r>
            <a:r>
              <a:rPr lang="it-IT" dirty="0"/>
              <a:t> filter for the derivative </a:t>
            </a:r>
            <a:r>
              <a:rPr lang="it-IT" dirty="0" err="1"/>
              <a:t>calculations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 N = ln(alpha)/</a:t>
            </a:r>
            <a:r>
              <a:rPr lang="it-IT" dirty="0" err="1">
                <a:sym typeface="Wingdings" panose="05000000000000000000" pitchFamily="2" charset="2"/>
              </a:rPr>
              <a:t>dt</a:t>
            </a:r>
            <a:endParaRPr lang="it-IT" dirty="0">
              <a:sym typeface="Wingdings" panose="05000000000000000000" pitchFamily="2" charset="2"/>
            </a:endParaRPr>
          </a:p>
        </p:txBody>
      </p:sp>
      <p:pic>
        <p:nvPicPr>
          <p:cNvPr id="5" name="Immagine 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E911AFC0-58DE-CEA3-A3CF-9CAD4CB7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45" y="1239581"/>
            <a:ext cx="9916909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645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88F614-3176-BDBE-F25E-EBD7C5BF5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5-d Interface </a:t>
            </a:r>
            <a:r>
              <a:rPr lang="it-IT" dirty="0" err="1"/>
              <a:t>Sensors-Actuators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EDFBBC-CDDB-70A1-CF06-E4A42E96B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4253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1ECC43-F49C-C8CC-92CF-D2322AA4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6-Experimental </a:t>
            </a:r>
            <a:r>
              <a:rPr lang="it-IT" dirty="0" err="1"/>
              <a:t>Validation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74CC05-8F6A-228E-517C-7BBA29E82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9439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A7467A-FB2F-3B32-3C4B-E5D60B873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6-a Setup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77BDF9-0907-A224-3BA4-018DA5A87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4286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C17B73-946B-66DE-0299-1F51803D0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6-b Test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7AA3F0-5CAE-4FBC-E4AE-89A875323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2972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3F87EC-F0E8-820E-596E-F1FA09A04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7-Conclusions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F98BF8-6CAB-B01F-F241-EF97EE3C6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7888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B13D3B-6E57-E5B5-6CFB-A1D9FBFC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7-a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E7A3FD-AA94-CFED-FCF3-B89613F72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5765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905B2F-CB2A-DD82-AFE3-3A43FBD50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7-b </a:t>
            </a:r>
            <a:r>
              <a:rPr lang="it-IT" dirty="0" err="1"/>
              <a:t>Limitations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CDC727-80E3-4718-97C9-ADC44EA1E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6800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ADDE76-66D3-D083-412F-32D9A02AF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7-c </a:t>
            </a:r>
            <a:r>
              <a:rPr lang="it-IT" dirty="0" err="1"/>
              <a:t>Further</a:t>
            </a:r>
            <a:r>
              <a:rPr lang="it-IT" dirty="0"/>
              <a:t> 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4F4671-F5A1-2983-DA7F-0F5A9A329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11167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5CDFF7-01CA-B85D-3CBD-D58AD691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Rocket </a:t>
            </a:r>
            <a:r>
              <a:rPr lang="it-IT" dirty="0" err="1"/>
              <a:t>Sizing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8695F3-11AA-72EB-CF5E-C9E4E0672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 dirty="0"/>
              <a:t>Full rocket with high power </a:t>
            </a:r>
            <a:r>
              <a:rPr lang="it-IT" sz="1600" dirty="0" err="1"/>
              <a:t>motor</a:t>
            </a:r>
            <a:r>
              <a:rPr lang="it-IT" sz="1600" dirty="0"/>
              <a:t> </a:t>
            </a:r>
            <a:r>
              <a:rPr lang="it-IT" sz="1600" dirty="0" err="1"/>
              <a:t>would</a:t>
            </a:r>
            <a:r>
              <a:rPr lang="it-IT" sz="1600" dirty="0"/>
              <a:t> be </a:t>
            </a:r>
            <a:r>
              <a:rPr lang="it-IT" sz="1600" dirty="0" err="1"/>
              <a:t>better</a:t>
            </a:r>
            <a:r>
              <a:rPr lang="it-IT" sz="1600" dirty="0"/>
              <a:t> </a:t>
            </a:r>
            <a:r>
              <a:rPr lang="it-IT" sz="1600" dirty="0">
                <a:sym typeface="Wingdings" panose="05000000000000000000" pitchFamily="2" charset="2"/>
              </a:rPr>
              <a:t> Too </a:t>
            </a:r>
            <a:r>
              <a:rPr lang="it-IT" sz="1600" dirty="0" err="1">
                <a:sym typeface="Wingdings" panose="05000000000000000000" pitchFamily="2" charset="2"/>
              </a:rPr>
              <a:t>powerful</a:t>
            </a:r>
            <a:r>
              <a:rPr lang="it-IT" sz="1600" dirty="0">
                <a:sym typeface="Wingdings" panose="05000000000000000000" pitchFamily="2" charset="2"/>
              </a:rPr>
              <a:t> and </a:t>
            </a:r>
            <a:r>
              <a:rPr lang="it-IT" sz="1600" dirty="0" err="1">
                <a:sym typeface="Wingdings" panose="05000000000000000000" pitchFamily="2" charset="2"/>
              </a:rPr>
              <a:t>needs</a:t>
            </a:r>
            <a:r>
              <a:rPr lang="it-IT" sz="1600" dirty="0">
                <a:sym typeface="Wingdings" panose="05000000000000000000" pitchFamily="2" charset="2"/>
              </a:rPr>
              <a:t> more speed for </a:t>
            </a:r>
            <a:r>
              <a:rPr lang="it-IT" sz="1600" dirty="0" err="1">
                <a:sym typeface="Wingdings" panose="05000000000000000000" pitchFamily="2" charset="2"/>
              </a:rPr>
              <a:t>same</a:t>
            </a:r>
            <a:r>
              <a:rPr lang="it-IT" sz="1600" dirty="0">
                <a:sym typeface="Wingdings" panose="05000000000000000000" pitchFamily="2" charset="2"/>
              </a:rPr>
              <a:t> control authority  </a:t>
            </a:r>
            <a:r>
              <a:rPr lang="it-IT" sz="1600" dirty="0" err="1">
                <a:sym typeface="Wingdings" panose="05000000000000000000" pitchFamily="2" charset="2"/>
              </a:rPr>
              <a:t>Because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MoI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is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higher</a:t>
            </a:r>
            <a:r>
              <a:rPr lang="it-IT" sz="16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it-IT" sz="16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it-IT" sz="1600" dirty="0" err="1">
                <a:sym typeface="Wingdings" panose="05000000000000000000" pitchFamily="2" charset="2"/>
              </a:rPr>
              <a:t>We</a:t>
            </a:r>
            <a:r>
              <a:rPr lang="it-IT" sz="1600" dirty="0">
                <a:sym typeface="Wingdings" panose="05000000000000000000" pitchFamily="2" charset="2"/>
              </a:rPr>
              <a:t> scale down the rocket  </a:t>
            </a:r>
            <a:r>
              <a:rPr lang="it-IT" sz="1600" dirty="0" err="1">
                <a:sym typeface="Wingdings" panose="05000000000000000000" pitchFamily="2" charset="2"/>
              </a:rPr>
              <a:t>less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MoI</a:t>
            </a:r>
            <a:r>
              <a:rPr lang="it-IT" sz="1600" dirty="0">
                <a:sym typeface="Wingdings" panose="05000000000000000000" pitchFamily="2" charset="2"/>
              </a:rPr>
              <a:t>  </a:t>
            </a:r>
            <a:r>
              <a:rPr lang="it-IT" sz="1600" dirty="0" err="1">
                <a:sym typeface="Wingdings" panose="05000000000000000000" pitchFamily="2" charset="2"/>
              </a:rPr>
              <a:t>less</a:t>
            </a:r>
            <a:r>
              <a:rPr lang="it-IT" sz="1600" dirty="0">
                <a:sym typeface="Wingdings" panose="05000000000000000000" pitchFamily="2" charset="2"/>
              </a:rPr>
              <a:t> speed </a:t>
            </a:r>
            <a:r>
              <a:rPr lang="it-IT" sz="1600" dirty="0" err="1">
                <a:sym typeface="Wingdings" panose="05000000000000000000" pitchFamily="2" charset="2"/>
              </a:rPr>
              <a:t>needed</a:t>
            </a:r>
            <a:r>
              <a:rPr lang="it-IT" sz="1600" dirty="0">
                <a:sym typeface="Wingdings" panose="05000000000000000000" pitchFamily="2" charset="2"/>
              </a:rPr>
              <a:t> for </a:t>
            </a:r>
            <a:r>
              <a:rPr lang="it-IT" sz="1600" dirty="0" err="1">
                <a:sym typeface="Wingdings" panose="05000000000000000000" pitchFamily="2" charset="2"/>
              </a:rPr>
              <a:t>same</a:t>
            </a:r>
            <a:r>
              <a:rPr lang="it-IT" sz="1600" dirty="0">
                <a:sym typeface="Wingdings" panose="05000000000000000000" pitchFamily="2" charset="2"/>
              </a:rPr>
              <a:t> control authority  </a:t>
            </a:r>
            <a:r>
              <a:rPr lang="it-IT" sz="1600" dirty="0" err="1">
                <a:sym typeface="Wingdings" panose="05000000000000000000" pitchFamily="2" charset="2"/>
              </a:rPr>
              <a:t>less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powerful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motor</a:t>
            </a:r>
            <a:r>
              <a:rPr lang="it-IT" sz="1600" dirty="0">
                <a:sym typeface="Wingdings" panose="05000000000000000000" pitchFamily="2" charset="2"/>
              </a:rPr>
              <a:t>  </a:t>
            </a:r>
            <a:r>
              <a:rPr lang="it-IT" sz="1600" dirty="0" err="1">
                <a:sym typeface="Wingdings" panose="05000000000000000000" pitchFamily="2" charset="2"/>
              </a:rPr>
              <a:t>safer</a:t>
            </a:r>
            <a:r>
              <a:rPr lang="it-IT" sz="1600" dirty="0">
                <a:sym typeface="Wingdings" panose="05000000000000000000" pitchFamily="2" charset="2"/>
              </a:rPr>
              <a:t> and </a:t>
            </a:r>
            <a:r>
              <a:rPr lang="it-IT" sz="1600" dirty="0" err="1">
                <a:sym typeface="Wingdings" panose="05000000000000000000" pitchFamily="2" charset="2"/>
              </a:rPr>
              <a:t>compliant</a:t>
            </a:r>
            <a:r>
              <a:rPr lang="it-IT" sz="1600" dirty="0">
                <a:sym typeface="Wingdings" panose="05000000000000000000" pitchFamily="2" charset="2"/>
              </a:rPr>
              <a:t> with </a:t>
            </a:r>
            <a:r>
              <a:rPr lang="it-IT" sz="1600" dirty="0" err="1">
                <a:sym typeface="Wingdings" panose="05000000000000000000" pitchFamily="2" charset="2"/>
              </a:rPr>
              <a:t>safety</a:t>
            </a:r>
            <a:r>
              <a:rPr lang="it-IT" sz="1600" dirty="0">
                <a:sym typeface="Wingdings" panose="05000000000000000000" pitchFamily="2" charset="2"/>
              </a:rPr>
              <a:t> rules + </a:t>
            </a:r>
            <a:r>
              <a:rPr lang="it-IT" sz="1600" dirty="0" err="1">
                <a:sym typeface="Wingdings" panose="05000000000000000000" pitchFamily="2" charset="2"/>
              </a:rPr>
              <a:t>less</a:t>
            </a:r>
            <a:r>
              <a:rPr lang="it-IT" sz="1600" dirty="0">
                <a:sym typeface="Wingdings" panose="05000000000000000000" pitchFamily="2" charset="2"/>
              </a:rPr>
              <a:t> cost per </a:t>
            </a:r>
            <a:r>
              <a:rPr lang="it-IT" sz="1600" dirty="0" err="1">
                <a:sym typeface="Wingdings" panose="05000000000000000000" pitchFamily="2" charset="2"/>
              </a:rPr>
              <a:t>flight</a:t>
            </a:r>
            <a:r>
              <a:rPr lang="it-IT" sz="1600" dirty="0">
                <a:sym typeface="Wingdings" panose="05000000000000000000" pitchFamily="2" charset="2"/>
              </a:rPr>
              <a:t> and per rocket (</a:t>
            </a:r>
            <a:r>
              <a:rPr lang="it-IT" sz="1600" dirty="0" err="1">
                <a:sym typeface="Wingdings" panose="05000000000000000000" pitchFamily="2" charset="2"/>
              </a:rPr>
              <a:t>faster</a:t>
            </a:r>
            <a:r>
              <a:rPr lang="it-IT" sz="1600" dirty="0">
                <a:sym typeface="Wingdings" panose="05000000000000000000" pitchFamily="2" charset="2"/>
              </a:rPr>
              <a:t> iterative time)</a:t>
            </a:r>
          </a:p>
          <a:p>
            <a:pPr marL="0" indent="0">
              <a:buNone/>
            </a:pPr>
            <a:endParaRPr lang="it-IT" sz="16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it-IT" sz="1600" dirty="0" err="1">
                <a:sym typeface="Wingdings" panose="05000000000000000000" pitchFamily="2" charset="2"/>
              </a:rPr>
              <a:t>Everything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needs</a:t>
            </a:r>
            <a:r>
              <a:rPr lang="it-IT" sz="1600" dirty="0">
                <a:sym typeface="Wingdings" panose="05000000000000000000" pitchFamily="2" charset="2"/>
              </a:rPr>
              <a:t> to be </a:t>
            </a:r>
            <a:r>
              <a:rPr lang="it-IT" sz="1600" dirty="0" err="1">
                <a:sym typeface="Wingdings" panose="05000000000000000000" pitchFamily="2" charset="2"/>
              </a:rPr>
              <a:t>optimized</a:t>
            </a:r>
            <a:r>
              <a:rPr lang="it-IT" sz="1600" dirty="0">
                <a:sym typeface="Wingdings" panose="05000000000000000000" pitchFamily="2" charset="2"/>
              </a:rPr>
              <a:t> for weight  CM </a:t>
            </a:r>
            <a:r>
              <a:rPr lang="it-IT" sz="1600" dirty="0" err="1">
                <a:sym typeface="Wingdings" panose="05000000000000000000" pitchFamily="2" charset="2"/>
              </a:rPr>
              <a:t>considerations</a:t>
            </a:r>
            <a:r>
              <a:rPr lang="it-IT" sz="1600" dirty="0">
                <a:sym typeface="Wingdings" panose="05000000000000000000" pitchFamily="2" charset="2"/>
              </a:rPr>
              <a:t> and </a:t>
            </a:r>
            <a:r>
              <a:rPr lang="it-IT" sz="1600" dirty="0" err="1">
                <a:sym typeface="Wingdings" panose="05000000000000000000" pitchFamily="2" charset="2"/>
              </a:rPr>
              <a:t>total</a:t>
            </a:r>
            <a:r>
              <a:rPr lang="it-IT" sz="1600" dirty="0">
                <a:sym typeface="Wingdings" panose="05000000000000000000" pitchFamily="2" charset="2"/>
              </a:rPr>
              <a:t> mass </a:t>
            </a:r>
            <a:r>
              <a:rPr lang="it-IT" sz="1600" dirty="0" err="1">
                <a:sym typeface="Wingdings" panose="05000000000000000000" pitchFamily="2" charset="2"/>
              </a:rPr>
              <a:t>considerations</a:t>
            </a:r>
            <a:r>
              <a:rPr lang="it-IT" sz="1600" dirty="0">
                <a:sym typeface="Wingdings" panose="05000000000000000000" pitchFamily="2" charset="2"/>
              </a:rPr>
              <a:t>  </a:t>
            </a:r>
            <a:r>
              <a:rPr lang="it-IT" sz="1600" dirty="0" err="1">
                <a:sym typeface="Wingdings" panose="05000000000000000000" pitchFamily="2" charset="2"/>
              </a:rPr>
              <a:t>We</a:t>
            </a:r>
            <a:r>
              <a:rPr lang="it-IT" sz="1600" dirty="0">
                <a:sym typeface="Wingdings" panose="05000000000000000000" pitchFamily="2" charset="2"/>
              </a:rPr>
              <a:t> work </a:t>
            </a:r>
            <a:r>
              <a:rPr lang="it-IT" sz="1600" dirty="0" err="1">
                <a:sym typeface="Wingdings" panose="05000000000000000000" pitchFamily="2" charset="2"/>
              </a:rPr>
              <a:t>around</a:t>
            </a:r>
            <a:r>
              <a:rPr lang="it-IT" sz="1600" dirty="0">
                <a:sym typeface="Wingdings" panose="05000000000000000000" pitchFamily="2" charset="2"/>
              </a:rPr>
              <a:t> a </a:t>
            </a:r>
            <a:r>
              <a:rPr lang="it-IT" sz="1600" dirty="0" err="1">
                <a:sym typeface="Wingdings" panose="05000000000000000000" pitchFamily="2" charset="2"/>
              </a:rPr>
              <a:t>known</a:t>
            </a:r>
            <a:r>
              <a:rPr lang="it-IT" sz="1600" dirty="0">
                <a:sym typeface="Wingdings" panose="05000000000000000000" pitchFamily="2" charset="2"/>
              </a:rPr>
              <a:t> single use rocket </a:t>
            </a:r>
            <a:r>
              <a:rPr lang="it-IT" sz="1600" dirty="0" err="1">
                <a:sym typeface="Wingdings" panose="05000000000000000000" pitchFamily="2" charset="2"/>
              </a:rPr>
              <a:t>motor</a:t>
            </a:r>
            <a:r>
              <a:rPr lang="it-IT" sz="1600" dirty="0">
                <a:sym typeface="Wingdings" panose="05000000000000000000" pitchFamily="2" charset="2"/>
              </a:rPr>
              <a:t> F class </a:t>
            </a:r>
          </a:p>
          <a:p>
            <a:pPr marL="0" indent="0">
              <a:buNone/>
            </a:pPr>
            <a:endParaRPr lang="it-IT" sz="16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it-IT" sz="1600" dirty="0" err="1">
                <a:sym typeface="Wingdings" panose="05000000000000000000" pitchFamily="2" charset="2"/>
              </a:rPr>
              <a:t>Avionics</a:t>
            </a:r>
            <a:r>
              <a:rPr lang="it-IT" sz="1600" dirty="0">
                <a:sym typeface="Wingdings" panose="05000000000000000000" pitchFamily="2" charset="2"/>
              </a:rPr>
              <a:t> and Recovery </a:t>
            </a:r>
            <a:r>
              <a:rPr lang="it-IT" sz="1600" dirty="0" err="1">
                <a:sym typeface="Wingdings" panose="05000000000000000000" pitchFamily="2" charset="2"/>
              </a:rPr>
              <a:t>is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too</a:t>
            </a:r>
            <a:r>
              <a:rPr lang="it-IT" sz="1600" dirty="0">
                <a:sym typeface="Wingdings" panose="05000000000000000000" pitchFamily="2" charset="2"/>
              </a:rPr>
              <a:t> heavy </a:t>
            </a:r>
            <a:r>
              <a:rPr lang="it-IT" sz="1600" dirty="0" err="1">
                <a:sym typeface="Wingdings" panose="05000000000000000000" pitchFamily="2" charset="2"/>
              </a:rPr>
              <a:t>now</a:t>
            </a:r>
            <a:r>
              <a:rPr lang="it-IT" sz="1600" dirty="0">
                <a:sym typeface="Wingdings" panose="05000000000000000000" pitchFamily="2" charset="2"/>
              </a:rPr>
              <a:t>  </a:t>
            </a:r>
            <a:r>
              <a:rPr lang="it-IT" sz="1600" dirty="0" err="1">
                <a:sym typeface="Wingdings" panose="05000000000000000000" pitchFamily="2" charset="2"/>
              </a:rPr>
              <a:t>Pyro</a:t>
            </a:r>
            <a:r>
              <a:rPr lang="it-IT" sz="1600" dirty="0">
                <a:sym typeface="Wingdings" panose="05000000000000000000" pitchFamily="2" charset="2"/>
              </a:rPr>
              <a:t> recovery </a:t>
            </a:r>
            <a:r>
              <a:rPr lang="it-IT" sz="1600" dirty="0" err="1">
                <a:sym typeface="Wingdings" panose="05000000000000000000" pitchFamily="2" charset="2"/>
              </a:rPr>
              <a:t>still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needed</a:t>
            </a:r>
            <a:r>
              <a:rPr lang="it-IT" sz="1600" dirty="0">
                <a:sym typeface="Wingdings" panose="05000000000000000000" pitchFamily="2" charset="2"/>
              </a:rPr>
              <a:t> for reliability  </a:t>
            </a:r>
            <a:r>
              <a:rPr lang="it-IT" sz="1600" dirty="0" err="1">
                <a:sym typeface="Wingdings" panose="05000000000000000000" pitchFamily="2" charset="2"/>
              </a:rPr>
              <a:t>less</a:t>
            </a:r>
            <a:r>
              <a:rPr lang="it-IT" sz="1600" dirty="0">
                <a:sym typeface="Wingdings" panose="05000000000000000000" pitchFamily="2" charset="2"/>
              </a:rPr>
              <a:t> room to </a:t>
            </a:r>
            <a:r>
              <a:rPr lang="it-IT" sz="1600" dirty="0" err="1">
                <a:sym typeface="Wingdings" panose="05000000000000000000" pitchFamily="2" charset="2"/>
              </a:rPr>
              <a:t>lose</a:t>
            </a:r>
            <a:r>
              <a:rPr lang="it-IT" sz="1600" dirty="0">
                <a:sym typeface="Wingdings" panose="05000000000000000000" pitchFamily="2" charset="2"/>
              </a:rPr>
              <a:t> weight </a:t>
            </a:r>
            <a:r>
              <a:rPr lang="it-IT" sz="1600" dirty="0" err="1">
                <a:sym typeface="Wingdings" panose="05000000000000000000" pitchFamily="2" charset="2"/>
              </a:rPr>
              <a:t>there</a:t>
            </a:r>
            <a:r>
              <a:rPr lang="it-IT" sz="1600" dirty="0">
                <a:sym typeface="Wingdings" panose="05000000000000000000" pitchFamily="2" charset="2"/>
              </a:rPr>
              <a:t> (</a:t>
            </a:r>
            <a:r>
              <a:rPr lang="it-IT" sz="1600" dirty="0" err="1">
                <a:sym typeface="Wingdings" panose="05000000000000000000" pitchFamily="2" charset="2"/>
              </a:rPr>
              <a:t>steel</a:t>
            </a:r>
            <a:r>
              <a:rPr lang="it-IT" sz="1600" dirty="0">
                <a:sym typeface="Wingdings" panose="05000000000000000000" pitchFamily="2" charset="2"/>
              </a:rPr>
              <a:t> hardware </a:t>
            </a:r>
            <a:r>
              <a:rPr lang="it-IT" sz="1600" dirty="0" err="1">
                <a:sym typeface="Wingdings" panose="05000000000000000000" pitchFamily="2" charset="2"/>
              </a:rPr>
              <a:t>needed</a:t>
            </a:r>
            <a:r>
              <a:rPr lang="it-IT" sz="1600" dirty="0">
                <a:sym typeface="Wingdings" panose="05000000000000000000" pitchFamily="2" charset="2"/>
              </a:rPr>
              <a:t>)  more weight and size to shed on </a:t>
            </a:r>
            <a:r>
              <a:rPr lang="it-IT" sz="1600" dirty="0" err="1">
                <a:sym typeface="Wingdings" panose="05000000000000000000" pitchFamily="2" charset="2"/>
              </a:rPr>
              <a:t>Avionics</a:t>
            </a:r>
            <a:r>
              <a:rPr lang="it-IT" sz="1600" dirty="0">
                <a:sym typeface="Wingdings" panose="05000000000000000000" pitchFamily="2" charset="2"/>
              </a:rPr>
              <a:t>  PCB custom plug and play </a:t>
            </a:r>
            <a:r>
              <a:rPr lang="it-IT" sz="1600" dirty="0" err="1">
                <a:sym typeface="Wingdings" panose="05000000000000000000" pitchFamily="2" charset="2"/>
              </a:rPr>
              <a:t>components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needed</a:t>
            </a:r>
            <a:r>
              <a:rPr lang="it-IT" sz="1600" dirty="0">
                <a:sym typeface="Wingdings" panose="05000000000000000000" pitchFamily="2" charset="2"/>
              </a:rPr>
              <a:t>  </a:t>
            </a:r>
            <a:r>
              <a:rPr lang="it-IT" sz="1600" dirty="0" err="1">
                <a:sym typeface="Wingdings" panose="05000000000000000000" pitchFamily="2" charset="2"/>
              </a:rPr>
              <a:t>less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hassle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than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perf</a:t>
            </a:r>
            <a:r>
              <a:rPr lang="it-IT" sz="1600" dirty="0">
                <a:sym typeface="Wingdings" panose="05000000000000000000" pitchFamily="2" charset="2"/>
              </a:rPr>
              <a:t> board more reliability.</a:t>
            </a:r>
          </a:p>
          <a:p>
            <a:pPr marL="0" indent="0">
              <a:buNone/>
            </a:pPr>
            <a:endParaRPr lang="it-IT" sz="16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it-IT" sz="1600" dirty="0" err="1">
                <a:sym typeface="Wingdings" panose="05000000000000000000" pitchFamily="2" charset="2"/>
              </a:rPr>
              <a:t>We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need</a:t>
            </a:r>
            <a:r>
              <a:rPr lang="it-IT" sz="1600" dirty="0">
                <a:sym typeface="Wingdings" panose="05000000000000000000" pitchFamily="2" charset="2"/>
              </a:rPr>
              <a:t> to </a:t>
            </a:r>
            <a:r>
              <a:rPr lang="it-IT" sz="1600" dirty="0" err="1">
                <a:sym typeface="Wingdings" panose="05000000000000000000" pitchFamily="2" charset="2"/>
              </a:rPr>
              <a:t>learn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how</a:t>
            </a:r>
            <a:r>
              <a:rPr lang="it-IT" sz="1600" dirty="0">
                <a:sym typeface="Wingdings" panose="05000000000000000000" pitchFamily="2" charset="2"/>
              </a:rPr>
              <a:t> to design a </a:t>
            </a:r>
            <a:r>
              <a:rPr lang="it-IT" sz="1600" dirty="0" err="1">
                <a:sym typeface="Wingdings" panose="05000000000000000000" pitchFamily="2" charset="2"/>
              </a:rPr>
              <a:t>simple</a:t>
            </a:r>
            <a:r>
              <a:rPr lang="it-IT" sz="1600" dirty="0">
                <a:sym typeface="Wingdings" panose="05000000000000000000" pitchFamily="2" charset="2"/>
              </a:rPr>
              <a:t> custom PCB 2 sides </a:t>
            </a:r>
            <a:r>
              <a:rPr lang="it-IT" sz="1600" dirty="0" err="1">
                <a:sym typeface="Wingdings" panose="05000000000000000000" pitchFamily="2" charset="2"/>
              </a:rPr>
              <a:t>that</a:t>
            </a:r>
            <a:r>
              <a:rPr lang="it-IT" sz="1600" dirty="0">
                <a:sym typeface="Wingdings" panose="05000000000000000000" pitchFamily="2" charset="2"/>
              </a:rPr>
              <a:t> works (</a:t>
            </a:r>
            <a:r>
              <a:rPr lang="it-IT" sz="1600" dirty="0" err="1">
                <a:sym typeface="Wingdings" panose="05000000000000000000" pitchFamily="2" charset="2"/>
              </a:rPr>
              <a:t>simple</a:t>
            </a:r>
            <a:r>
              <a:rPr lang="it-IT" sz="1600" dirty="0">
                <a:sym typeface="Wingdings" panose="05000000000000000000" pitchFamily="2" charset="2"/>
              </a:rPr>
              <a:t> trace </a:t>
            </a:r>
            <a:r>
              <a:rPr lang="it-IT" sz="1600" dirty="0" err="1">
                <a:sym typeface="Wingdings" panose="05000000000000000000" pitchFamily="2" charset="2"/>
              </a:rPr>
              <a:t>needed</a:t>
            </a:r>
            <a:r>
              <a:rPr lang="it-IT" sz="1600" dirty="0">
                <a:sym typeface="Wingdings" panose="05000000000000000000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393501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47B3B1-0D72-B140-B7D5-5ABBB0579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 dirty="0" err="1"/>
              <a:t>Before</a:t>
            </a:r>
            <a:r>
              <a:rPr lang="it-IT" sz="1600" dirty="0"/>
              <a:t> </a:t>
            </a:r>
            <a:r>
              <a:rPr lang="it-IT" sz="1600" dirty="0" err="1"/>
              <a:t>doing</a:t>
            </a:r>
            <a:r>
              <a:rPr lang="it-IT" sz="1600" dirty="0"/>
              <a:t> a new PCB 2 </a:t>
            </a:r>
            <a:r>
              <a:rPr lang="it-IT" sz="1600" dirty="0" err="1"/>
              <a:t>things</a:t>
            </a:r>
            <a:r>
              <a:rPr lang="it-IT" sz="1600" dirty="0"/>
              <a:t> are </a:t>
            </a:r>
            <a:r>
              <a:rPr lang="it-IT" sz="1600" dirty="0" err="1"/>
              <a:t>needed</a:t>
            </a:r>
            <a:r>
              <a:rPr lang="it-IT" sz="1600" dirty="0"/>
              <a:t> tho </a:t>
            </a:r>
            <a:r>
              <a:rPr lang="it-IT" sz="1600" dirty="0">
                <a:sym typeface="Wingdings" panose="05000000000000000000" pitchFamily="2" charset="2"/>
              </a:rPr>
              <a:t> 1) A </a:t>
            </a:r>
            <a:r>
              <a:rPr lang="it-IT" sz="1600" dirty="0" err="1">
                <a:sym typeface="Wingdings" panose="05000000000000000000" pitchFamily="2" charset="2"/>
              </a:rPr>
              <a:t>functional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launch</a:t>
            </a:r>
            <a:r>
              <a:rPr lang="it-IT" sz="1600" dirty="0">
                <a:sym typeface="Wingdings" panose="05000000000000000000" pitchFamily="2" charset="2"/>
              </a:rPr>
              <a:t> (crude)  ;  2)  A </a:t>
            </a:r>
            <a:r>
              <a:rPr lang="it-IT" sz="1600" dirty="0" err="1">
                <a:sym typeface="Wingdings" panose="05000000000000000000" pitchFamily="2" charset="2"/>
              </a:rPr>
              <a:t>FreeRTOS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program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tested</a:t>
            </a:r>
            <a:r>
              <a:rPr lang="it-IT" sz="1600" dirty="0">
                <a:sym typeface="Wingdings" panose="05000000000000000000" pitchFamily="2" charset="2"/>
              </a:rPr>
              <a:t> to </a:t>
            </a:r>
            <a:r>
              <a:rPr lang="it-IT" sz="1600" dirty="0" err="1">
                <a:sym typeface="Wingdings" panose="05000000000000000000" pitchFamily="2" charset="2"/>
              </a:rPr>
              <a:t>optimize</a:t>
            </a:r>
            <a:r>
              <a:rPr lang="it-IT" sz="1600" dirty="0">
                <a:sym typeface="Wingdings" panose="05000000000000000000" pitchFamily="2" charset="2"/>
              </a:rPr>
              <a:t> the code and </a:t>
            </a:r>
            <a:r>
              <a:rPr lang="it-IT" sz="1600" dirty="0" err="1">
                <a:sym typeface="Wingdings" panose="05000000000000000000" pitchFamily="2" charset="2"/>
              </a:rPr>
              <a:t>see</a:t>
            </a:r>
            <a:r>
              <a:rPr lang="it-IT" sz="1600" dirty="0">
                <a:sym typeface="Wingdings" panose="05000000000000000000" pitchFamily="2" charset="2"/>
              </a:rPr>
              <a:t> the full capabilities of the MCU</a:t>
            </a:r>
          </a:p>
          <a:p>
            <a:pPr marL="0" indent="0">
              <a:buNone/>
            </a:pPr>
            <a:endParaRPr lang="it-IT" sz="16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it-IT" sz="1600" dirty="0">
                <a:sym typeface="Wingdings" panose="05000000000000000000" pitchFamily="2" charset="2"/>
              </a:rPr>
              <a:t>5V power </a:t>
            </a:r>
            <a:r>
              <a:rPr lang="it-IT" sz="1600" dirty="0" err="1">
                <a:sym typeface="Wingdings" panose="05000000000000000000" pitchFamily="2" charset="2"/>
              </a:rPr>
              <a:t>is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needed</a:t>
            </a:r>
            <a:r>
              <a:rPr lang="it-IT" sz="1600" dirty="0">
                <a:sym typeface="Wingdings" panose="05000000000000000000" pitchFamily="2" charset="2"/>
              </a:rPr>
              <a:t> for PYRO, MCU power and servo power  </a:t>
            </a:r>
            <a:r>
              <a:rPr lang="it-IT" sz="1600" dirty="0" err="1">
                <a:sym typeface="Wingdings" panose="05000000000000000000" pitchFamily="2" charset="2"/>
              </a:rPr>
              <a:t>total</a:t>
            </a:r>
            <a:r>
              <a:rPr lang="it-IT" sz="1600" dirty="0">
                <a:sym typeface="Wingdings" panose="05000000000000000000" pitchFamily="2" charset="2"/>
              </a:rPr>
              <a:t> power </a:t>
            </a:r>
            <a:r>
              <a:rPr lang="it-IT" sz="1600" dirty="0" err="1">
                <a:sym typeface="Wingdings" panose="05000000000000000000" pitchFamily="2" charset="2"/>
              </a:rPr>
              <a:t>is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less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than</a:t>
            </a:r>
            <a:r>
              <a:rPr lang="it-IT" sz="1600" dirty="0">
                <a:sym typeface="Wingdings" panose="05000000000000000000" pitchFamily="2" charset="2"/>
              </a:rPr>
              <a:t> 3 A so </a:t>
            </a:r>
            <a:r>
              <a:rPr lang="it-IT" sz="1600" dirty="0" err="1">
                <a:sym typeface="Wingdings" panose="05000000000000000000" pitchFamily="2" charset="2"/>
              </a:rPr>
              <a:t>only</a:t>
            </a:r>
            <a:r>
              <a:rPr lang="it-IT" sz="1600" dirty="0">
                <a:sym typeface="Wingdings" panose="05000000000000000000" pitchFamily="2" charset="2"/>
              </a:rPr>
              <a:t> one </a:t>
            </a:r>
            <a:r>
              <a:rPr lang="it-IT" sz="1600" dirty="0" err="1">
                <a:sym typeface="Wingdings" panose="05000000000000000000" pitchFamily="2" charset="2"/>
              </a:rPr>
              <a:t>buck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is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needed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endParaRPr lang="it-IT" sz="16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it-IT" sz="1600" dirty="0">
                <a:sym typeface="Wingdings" panose="05000000000000000000" pitchFamily="2" charset="2"/>
              </a:rPr>
              <a:t>Next up </a:t>
            </a:r>
            <a:r>
              <a:rPr lang="it-IT" sz="1600" dirty="0" err="1">
                <a:sym typeface="Wingdings" panose="05000000000000000000" pitchFamily="2" charset="2"/>
              </a:rPr>
              <a:t>fins</a:t>
            </a:r>
            <a:r>
              <a:rPr lang="it-IT" sz="1600" dirty="0">
                <a:sym typeface="Wingdings" panose="05000000000000000000" pitchFamily="2" charset="2"/>
              </a:rPr>
              <a:t> 3D printed with control </a:t>
            </a:r>
            <a:r>
              <a:rPr lang="it-IT" sz="1600" dirty="0" err="1">
                <a:sym typeface="Wingdings" panose="05000000000000000000" pitchFamily="2" charset="2"/>
              </a:rPr>
              <a:t>actuators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mounts</a:t>
            </a:r>
            <a:r>
              <a:rPr lang="it-IT" sz="1600" dirty="0">
                <a:sym typeface="Wingdings" panose="05000000000000000000" pitchFamily="2" charset="2"/>
              </a:rPr>
              <a:t>  servo testing  </a:t>
            </a:r>
            <a:r>
              <a:rPr lang="it-IT" sz="1600" dirty="0" err="1">
                <a:sym typeface="Wingdings" panose="05000000000000000000" pitchFamily="2" charset="2"/>
              </a:rPr>
              <a:t>avionics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mount</a:t>
            </a:r>
            <a:r>
              <a:rPr lang="it-IT" sz="1600" dirty="0">
                <a:sym typeface="Wingdings" panose="05000000000000000000" pitchFamily="2" charset="2"/>
              </a:rPr>
              <a:t>  recovery </a:t>
            </a:r>
            <a:r>
              <a:rPr lang="it-IT" sz="1600" dirty="0" err="1">
                <a:sym typeface="Wingdings" panose="05000000000000000000" pitchFamily="2" charset="2"/>
              </a:rPr>
              <a:t>mount</a:t>
            </a:r>
            <a:r>
              <a:rPr lang="it-IT" sz="1600" dirty="0">
                <a:sym typeface="Wingdings" panose="05000000000000000000" pitchFamily="2" charset="2"/>
              </a:rPr>
              <a:t>  </a:t>
            </a:r>
            <a:r>
              <a:rPr lang="it-IT" sz="1600" dirty="0" err="1">
                <a:sym typeface="Wingdings" panose="05000000000000000000" pitchFamily="2" charset="2"/>
              </a:rPr>
              <a:t>final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>
                <a:sym typeface="Wingdings" panose="05000000000000000000" pitchFamily="2" charset="2"/>
              </a:rPr>
              <a:t>integration</a:t>
            </a:r>
            <a:endParaRPr lang="it-IT" sz="1600" dirty="0"/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A2576449-FBAE-4D41-AE0D-9CC53DCC2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 dirty="0"/>
              <a:t>Rocket </a:t>
            </a:r>
            <a:r>
              <a:rPr lang="it-IT" dirty="0" err="1"/>
              <a:t>Sizing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13894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829707-1C80-32F7-DFDC-D951E106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Goals v2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B55919-A740-D1AC-29E3-0E29EB850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Keep</a:t>
            </a:r>
            <a:r>
              <a:rPr lang="it-IT" dirty="0"/>
              <a:t> the roll angle </a:t>
            </a:r>
            <a:r>
              <a:rPr lang="it-IT" dirty="0" err="1"/>
              <a:t>fixed</a:t>
            </a:r>
            <a:r>
              <a:rPr lang="it-IT" dirty="0"/>
              <a:t> to 0° </a:t>
            </a:r>
          </a:p>
        </p:txBody>
      </p:sp>
    </p:spTree>
    <p:extLst>
      <p:ext uri="{BB962C8B-B14F-4D97-AF65-F5344CB8AC3E}">
        <p14:creationId xmlns:p14="http://schemas.microsoft.com/office/powerpoint/2010/main" val="38796776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AA6FC9-0811-E35E-4A29-5FADECDF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Active Control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335804-2ED5-7344-30C4-D81547F03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800" dirty="0" err="1"/>
              <a:t>Since</a:t>
            </a:r>
            <a:r>
              <a:rPr lang="it-IT" sz="1800" dirty="0"/>
              <a:t> </a:t>
            </a:r>
            <a:r>
              <a:rPr lang="en-US" sz="1800" dirty="0"/>
              <a:t>both the disturbance torque (from misalignment/asymmetry) and the control torque (from tabs) scale with dynamic pressure (q ∝ v²):</a:t>
            </a:r>
          </a:p>
          <a:p>
            <a:r>
              <a:rPr lang="en-US" sz="1800" dirty="0"/>
              <a:t>Disturbance Torque: </a:t>
            </a:r>
            <a:r>
              <a:rPr lang="en-US" sz="1800" dirty="0" err="1"/>
              <a:t>τ_dist</a:t>
            </a:r>
            <a:r>
              <a:rPr lang="en-US" sz="1800" dirty="0"/>
              <a:t> = </a:t>
            </a:r>
            <a:r>
              <a:rPr lang="en-US" sz="1800" dirty="0" err="1"/>
              <a:t>C_dist</a:t>
            </a:r>
            <a:r>
              <a:rPr lang="en-US" sz="1800" dirty="0"/>
              <a:t> * q * A * L</a:t>
            </a:r>
          </a:p>
          <a:p>
            <a:r>
              <a:rPr lang="en-US" sz="1800" dirty="0"/>
              <a:t>Control Torque:     </a:t>
            </a:r>
            <a:r>
              <a:rPr lang="en-US" sz="1800" dirty="0" err="1"/>
              <a:t>τ_ctrl</a:t>
            </a:r>
            <a:r>
              <a:rPr lang="en-US" sz="1800" dirty="0"/>
              <a:t> = </a:t>
            </a:r>
            <a:r>
              <a:rPr lang="en-US" sz="1800" dirty="0" err="1"/>
              <a:t>C_ctrl</a:t>
            </a:r>
            <a:r>
              <a:rPr lang="en-US" sz="1800" dirty="0"/>
              <a:t> * q * A * L * δ</a:t>
            </a:r>
          </a:p>
          <a:p>
            <a:pPr marL="0" indent="0">
              <a:buNone/>
            </a:pPr>
            <a:r>
              <a:rPr lang="en-US" sz="1800" dirty="0"/>
              <a:t>  Since both scale the same way, their ratio remains constant across   flight speeds:</a:t>
            </a:r>
          </a:p>
          <a:p>
            <a:pPr marL="0" indent="0">
              <a:buNone/>
            </a:pPr>
            <a:r>
              <a:rPr lang="en-US" sz="1800" dirty="0" err="1"/>
              <a:t>τ_ctrl</a:t>
            </a:r>
            <a:r>
              <a:rPr lang="en-US" sz="1800" dirty="0"/>
              <a:t> / </a:t>
            </a:r>
            <a:r>
              <a:rPr lang="en-US" sz="1800" dirty="0" err="1"/>
              <a:t>τ_dist</a:t>
            </a:r>
            <a:r>
              <a:rPr lang="en-US" sz="1800" dirty="0"/>
              <a:t> = (</a:t>
            </a:r>
            <a:r>
              <a:rPr lang="en-US" sz="1800" dirty="0" err="1"/>
              <a:t>C_ctrl</a:t>
            </a:r>
            <a:r>
              <a:rPr lang="en-US" sz="1800" dirty="0"/>
              <a:t> * δ) / </a:t>
            </a:r>
            <a:r>
              <a:rPr lang="en-US" sz="1800" dirty="0" err="1"/>
              <a:t>C_dist</a:t>
            </a:r>
            <a:r>
              <a:rPr lang="en-US" sz="1800" dirty="0"/>
              <a:t> = constant</a:t>
            </a:r>
          </a:p>
          <a:p>
            <a:pPr marL="0" indent="0">
              <a:buNone/>
            </a:pPr>
            <a:r>
              <a:rPr lang="en-US" sz="1800" dirty="0"/>
              <a:t>This means the control authority relative to the disturbance doesn't change with speed - making the system surprisingly linear </a:t>
            </a:r>
            <a:r>
              <a:rPr lang="en-US" sz="1800" dirty="0">
                <a:sym typeface="Wingdings" panose="05000000000000000000" pitchFamily="2" charset="2"/>
              </a:rPr>
              <a:t> a simple PID controller with derivative filter + integral </a:t>
            </a:r>
            <a:r>
              <a:rPr lang="en-US" sz="1800" dirty="0" err="1">
                <a:sym typeface="Wingdings" panose="05000000000000000000" pitchFamily="2" charset="2"/>
              </a:rPr>
              <a:t>antiwindup</a:t>
            </a:r>
            <a:r>
              <a:rPr lang="en-US" sz="1800" dirty="0">
                <a:sym typeface="Wingdings" panose="05000000000000000000" pitchFamily="2" charset="2"/>
              </a:rPr>
              <a:t> + output directional saturation is good 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800" dirty="0">
                <a:sym typeface="Wingdings" panose="05000000000000000000" pitchFamily="2" charset="2"/>
              </a:rPr>
              <a:t>Fixed gains work well because the ratio remains constant across speeds and densities (altitudes)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800" dirty="0">
                <a:sym typeface="Wingdings" panose="05000000000000000000" pitchFamily="2" charset="2"/>
              </a:rPr>
              <a:t>The actuator (tab) is fixed to the servo so </a:t>
            </a:r>
            <a:r>
              <a:rPr lang="en-US" sz="1800" dirty="0" err="1">
                <a:sym typeface="Wingdings" panose="05000000000000000000" pitchFamily="2" charset="2"/>
              </a:rPr>
              <a:t>δ_servo</a:t>
            </a:r>
            <a:r>
              <a:rPr lang="en-US" sz="1800" dirty="0">
                <a:sym typeface="Wingdings" panose="05000000000000000000" pitchFamily="2" charset="2"/>
              </a:rPr>
              <a:t> = </a:t>
            </a:r>
            <a:r>
              <a:rPr lang="en-US" sz="1800" dirty="0" err="1">
                <a:sym typeface="Wingdings" panose="05000000000000000000" pitchFamily="2" charset="2"/>
              </a:rPr>
              <a:t>δ_tab</a:t>
            </a:r>
            <a:r>
              <a:rPr lang="en-US" sz="1800" dirty="0">
                <a:sym typeface="Wingdings" panose="05000000000000000000" pitchFamily="2" charset="2"/>
              </a:rPr>
              <a:t> and also the Lift is proportional to the angle of attack (in first approximation below 25°)  the actuator control has a linear output of torque (fixed arm length, fixed area of the tab) with respect to the angle of deflection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Both the actuator and the physics are linear for deflection angle</a:t>
            </a:r>
          </a:p>
        </p:txBody>
      </p:sp>
    </p:spTree>
    <p:extLst>
      <p:ext uri="{BB962C8B-B14F-4D97-AF65-F5344CB8AC3E}">
        <p14:creationId xmlns:p14="http://schemas.microsoft.com/office/powerpoint/2010/main" val="20713829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0B444B-F27A-DEDE-7C2E-11B0C971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Active Control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38B313-A986-BD82-256C-C18BC3D53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It’s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to control roll angle and </a:t>
            </a:r>
            <a:r>
              <a:rPr lang="it-IT" dirty="0" err="1"/>
              <a:t>not</a:t>
            </a:r>
            <a:r>
              <a:rPr lang="it-IT" dirty="0"/>
              <a:t> roll rate </a:t>
            </a:r>
            <a:r>
              <a:rPr lang="it-IT" dirty="0">
                <a:sym typeface="Wingdings" panose="05000000000000000000" pitchFamily="2" charset="2"/>
              </a:rPr>
              <a:t> derivative </a:t>
            </a:r>
            <a:r>
              <a:rPr lang="it-IT" dirty="0" err="1">
                <a:sym typeface="Wingdings" panose="05000000000000000000" pitchFamily="2" charset="2"/>
              </a:rPr>
              <a:t>term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is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simply</a:t>
            </a:r>
            <a:r>
              <a:rPr lang="it-IT" dirty="0">
                <a:sym typeface="Wingdings" panose="05000000000000000000" pitchFamily="2" charset="2"/>
              </a:rPr>
              <a:t> the </a:t>
            </a:r>
            <a:r>
              <a:rPr lang="it-IT" dirty="0" err="1">
                <a:sym typeface="Wingdings" panose="05000000000000000000" pitchFamily="2" charset="2"/>
              </a:rPr>
              <a:t>angular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velocity</a:t>
            </a:r>
            <a:r>
              <a:rPr lang="it-IT" dirty="0">
                <a:sym typeface="Wingdings" panose="05000000000000000000" pitchFamily="2" charset="2"/>
              </a:rPr>
              <a:t>  </a:t>
            </a:r>
            <a:r>
              <a:rPr lang="it-IT" dirty="0" err="1">
                <a:sym typeface="Wingdings" panose="05000000000000000000" pitchFamily="2" charset="2"/>
              </a:rPr>
              <a:t>directly</a:t>
            </a:r>
            <a:r>
              <a:rPr lang="it-IT" dirty="0">
                <a:sym typeface="Wingdings" panose="05000000000000000000" pitchFamily="2" charset="2"/>
              </a:rPr>
              <a:t> from the </a:t>
            </a:r>
            <a:r>
              <a:rPr lang="it-IT" dirty="0" err="1">
                <a:sym typeface="Wingdings" panose="05000000000000000000" pitchFamily="2" charset="2"/>
              </a:rPr>
              <a:t>gyro</a:t>
            </a:r>
            <a:r>
              <a:rPr lang="it-IT" dirty="0">
                <a:sym typeface="Wingdings" panose="05000000000000000000" pitchFamily="2" charset="2"/>
              </a:rPr>
              <a:t> (</a:t>
            </a:r>
            <a:r>
              <a:rPr lang="it-IT" dirty="0" err="1">
                <a:sym typeface="Wingdings" panose="05000000000000000000" pitchFamily="2" charset="2"/>
              </a:rPr>
              <a:t>less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noise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than</a:t>
            </a:r>
            <a:r>
              <a:rPr lang="it-IT" dirty="0">
                <a:sym typeface="Wingdings" panose="05000000000000000000" pitchFamily="2" charset="2"/>
              </a:rPr>
              <a:t> a finite </a:t>
            </a:r>
            <a:r>
              <a:rPr lang="it-IT" dirty="0" err="1">
                <a:sym typeface="Wingdings" panose="05000000000000000000" pitchFamily="2" charset="2"/>
              </a:rPr>
              <a:t>difference</a:t>
            </a:r>
            <a:r>
              <a:rPr lang="it-IT" dirty="0">
                <a:sym typeface="Wingdings" panose="05000000000000000000" pitchFamily="2" charset="2"/>
              </a:rPr>
              <a:t> derivative </a:t>
            </a:r>
            <a:r>
              <a:rPr lang="it-IT" dirty="0" err="1">
                <a:sym typeface="Wingdings" panose="05000000000000000000" pitchFamily="2" charset="2"/>
              </a:rPr>
              <a:t>if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it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was</a:t>
            </a:r>
            <a:r>
              <a:rPr lang="it-IT" dirty="0">
                <a:sym typeface="Wingdings" panose="05000000000000000000" pitchFamily="2" charset="2"/>
              </a:rPr>
              <a:t> roll rate) + </a:t>
            </a:r>
            <a:r>
              <a:rPr lang="it-IT" dirty="0" err="1">
                <a:sym typeface="Wingdings" panose="05000000000000000000" pitchFamily="2" charset="2"/>
              </a:rPr>
              <a:t>naturally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dampened</a:t>
            </a:r>
            <a:r>
              <a:rPr lang="it-IT" dirty="0">
                <a:sym typeface="Wingdings" panose="05000000000000000000" pitchFamily="2" charset="2"/>
              </a:rPr>
              <a:t> system</a:t>
            </a:r>
          </a:p>
          <a:p>
            <a:r>
              <a:rPr lang="it-IT" dirty="0">
                <a:sym typeface="Wingdings" panose="05000000000000000000" pitchFamily="2" charset="2"/>
              </a:rPr>
              <a:t>The gains for the system are </a:t>
            </a:r>
            <a:r>
              <a:rPr lang="it-IT" dirty="0" err="1">
                <a:sym typeface="Wingdings" panose="05000000000000000000" pitchFamily="2" charset="2"/>
              </a:rPr>
              <a:t>taken</a:t>
            </a:r>
            <a:r>
              <a:rPr lang="it-IT" dirty="0">
                <a:sym typeface="Wingdings" panose="05000000000000000000" pitchFamily="2" charset="2"/>
              </a:rPr>
              <a:t> first from </a:t>
            </a:r>
            <a:r>
              <a:rPr lang="it-IT" dirty="0" err="1">
                <a:sym typeface="Wingdings" panose="05000000000000000000" pitchFamily="2" charset="2"/>
              </a:rPr>
              <a:t>Simulink</a:t>
            </a:r>
            <a:r>
              <a:rPr lang="it-IT" dirty="0">
                <a:sym typeface="Wingdings" panose="05000000000000000000" pitchFamily="2" charset="2"/>
              </a:rPr>
              <a:t>, </a:t>
            </a:r>
            <a:r>
              <a:rPr lang="it-IT" dirty="0" err="1">
                <a:sym typeface="Wingdings" panose="05000000000000000000" pitchFamily="2" charset="2"/>
              </a:rPr>
              <a:t>then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tweaked</a:t>
            </a:r>
            <a:r>
              <a:rPr lang="it-IT" dirty="0">
                <a:sym typeface="Wingdings" panose="05000000000000000000" pitchFamily="2" charset="2"/>
              </a:rPr>
              <a:t> after </a:t>
            </a:r>
            <a:r>
              <a:rPr lang="it-IT" dirty="0" err="1">
                <a:sym typeface="Wingdings" panose="05000000000000000000" pitchFamily="2" charset="2"/>
              </a:rPr>
              <a:t>flight</a:t>
            </a:r>
            <a:r>
              <a:rPr lang="it-IT" dirty="0">
                <a:sym typeface="Wingdings" panose="05000000000000000000" pitchFamily="2" charset="2"/>
              </a:rPr>
              <a:t> performance </a:t>
            </a:r>
            <a:r>
              <a:rPr lang="it-IT" dirty="0" err="1">
                <a:sym typeface="Wingdings" panose="05000000000000000000" pitchFamily="2" charset="2"/>
              </a:rPr>
              <a:t>evaluation</a:t>
            </a:r>
            <a:r>
              <a:rPr lang="it-IT" dirty="0">
                <a:sym typeface="Wingdings" panose="05000000000000000000" pitchFamily="2" charset="2"/>
              </a:rPr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082079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D57871-605B-F438-3377-F3F2FD6F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7FBD4E-138E-A724-817D-E79D232B0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2DOF h and roll </a:t>
            </a:r>
            <a:r>
              <a:rPr lang="it-IT" dirty="0" err="1"/>
              <a:t>simulation</a:t>
            </a:r>
            <a:r>
              <a:rPr lang="it-IT" dirty="0"/>
              <a:t> , 1 </a:t>
            </a:r>
            <a:r>
              <a:rPr lang="it-IT" dirty="0" err="1"/>
              <a:t>ms</a:t>
            </a:r>
            <a:r>
              <a:rPr lang="it-IT" dirty="0"/>
              <a:t> </a:t>
            </a:r>
            <a:r>
              <a:rPr lang="it-IT" dirty="0" err="1"/>
              <a:t>timestep</a:t>
            </a:r>
            <a:r>
              <a:rPr lang="it-IT" dirty="0"/>
              <a:t> </a:t>
            </a:r>
          </a:p>
          <a:p>
            <a:r>
              <a:rPr lang="it-IT" dirty="0"/>
              <a:t>Real servo </a:t>
            </a:r>
            <a:r>
              <a:rPr lang="it-IT" dirty="0" err="1"/>
              <a:t>behaviour</a:t>
            </a:r>
            <a:r>
              <a:rPr lang="it-IT" dirty="0"/>
              <a:t> </a:t>
            </a:r>
            <a:r>
              <a:rPr lang="it-IT" dirty="0" err="1"/>
              <a:t>modeled</a:t>
            </a:r>
            <a:r>
              <a:rPr lang="it-IT" dirty="0"/>
              <a:t>: PID </a:t>
            </a:r>
            <a:r>
              <a:rPr lang="it-IT" dirty="0" err="1"/>
              <a:t>exact</a:t>
            </a:r>
            <a:r>
              <a:rPr lang="it-IT" dirty="0"/>
              <a:t> frequency 100Hz, servo lag (</a:t>
            </a:r>
            <a:r>
              <a:rPr lang="it-IT" dirty="0" err="1"/>
              <a:t>response</a:t>
            </a:r>
            <a:r>
              <a:rPr lang="it-IT" dirty="0"/>
              <a:t> time), servo </a:t>
            </a:r>
            <a:r>
              <a:rPr lang="it-IT" dirty="0" err="1"/>
              <a:t>positional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, servo jitter (</a:t>
            </a:r>
            <a:r>
              <a:rPr lang="it-IT" dirty="0" err="1"/>
              <a:t>noise</a:t>
            </a:r>
            <a:r>
              <a:rPr lang="it-IT" dirty="0"/>
              <a:t>), servo angle </a:t>
            </a:r>
            <a:r>
              <a:rPr lang="it-IT" dirty="0" err="1"/>
              <a:t>limiter</a:t>
            </a:r>
            <a:r>
              <a:rPr lang="it-IT" dirty="0"/>
              <a:t> (linear Cl </a:t>
            </a:r>
            <a:r>
              <a:rPr lang="it-IT" dirty="0" err="1"/>
              <a:t>relationship</a:t>
            </a:r>
            <a:r>
              <a:rPr lang="it-IT" dirty="0"/>
              <a:t> with alpha), servo rate </a:t>
            </a:r>
            <a:r>
              <a:rPr lang="it-IT" dirty="0" err="1"/>
              <a:t>limiter</a:t>
            </a:r>
            <a:r>
              <a:rPr lang="it-IT" dirty="0"/>
              <a:t> (max speed), servo </a:t>
            </a:r>
            <a:r>
              <a:rPr lang="it-IT" dirty="0" err="1"/>
              <a:t>deadband</a:t>
            </a:r>
            <a:endParaRPr lang="it-IT" dirty="0"/>
          </a:p>
          <a:p>
            <a:r>
              <a:rPr lang="it-IT" dirty="0"/>
              <a:t>PID gain </a:t>
            </a:r>
            <a:r>
              <a:rPr lang="it-IT" dirty="0" err="1"/>
              <a:t>scheduler</a:t>
            </a:r>
            <a:r>
              <a:rPr lang="it-IT" dirty="0"/>
              <a:t> for </a:t>
            </a:r>
            <a:r>
              <a:rPr lang="it-IT" dirty="0" err="1"/>
              <a:t>manouvers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speeds (control </a:t>
            </a:r>
            <a:r>
              <a:rPr lang="it-IT" dirty="0" err="1"/>
              <a:t>authorities</a:t>
            </a:r>
            <a:r>
              <a:rPr lang="it-IT" dirty="0"/>
              <a:t>) </a:t>
            </a:r>
          </a:p>
          <a:p>
            <a:r>
              <a:rPr lang="it-IT" dirty="0"/>
              <a:t>Manual PID tuning </a:t>
            </a:r>
            <a:r>
              <a:rPr lang="it-IT" dirty="0" err="1"/>
              <a:t>based</a:t>
            </a:r>
            <a:r>
              <a:rPr lang="it-IT" dirty="0"/>
              <a:t> on </a:t>
            </a:r>
            <a:r>
              <a:rPr lang="it-IT" dirty="0" err="1"/>
              <a:t>overshoot</a:t>
            </a:r>
            <a:r>
              <a:rPr lang="it-IT" dirty="0"/>
              <a:t>, </a:t>
            </a:r>
            <a:r>
              <a:rPr lang="it-IT" dirty="0" err="1"/>
              <a:t>response</a:t>
            </a:r>
            <a:r>
              <a:rPr lang="it-IT" dirty="0"/>
              <a:t> delay, </a:t>
            </a:r>
            <a:r>
              <a:rPr lang="it-IT" dirty="0" err="1"/>
              <a:t>oscillations</a:t>
            </a:r>
            <a:r>
              <a:rPr lang="it-IT" dirty="0"/>
              <a:t>, </a:t>
            </a:r>
            <a:r>
              <a:rPr lang="it-IT" dirty="0" err="1"/>
              <a:t>combined</a:t>
            </a:r>
            <a:r>
              <a:rPr lang="it-IT" dirty="0"/>
              <a:t> for best </a:t>
            </a:r>
            <a:r>
              <a:rPr lang="it-IT" dirty="0" err="1"/>
              <a:t>accuracy</a:t>
            </a:r>
            <a:r>
              <a:rPr lang="it-IT" dirty="0"/>
              <a:t> </a:t>
            </a:r>
            <a:r>
              <a:rPr lang="it-IT" dirty="0" err="1"/>
              <a:t>near</a:t>
            </a:r>
            <a:r>
              <a:rPr lang="it-IT" dirty="0"/>
              <a:t> end of </a:t>
            </a:r>
            <a:r>
              <a:rPr lang="it-IT" dirty="0" err="1"/>
              <a:t>manouver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189380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2ED07F-9A2A-1879-BBC5-40E154B3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Procedure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AAB120-84C2-37F8-CCBF-E54583B89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60487"/>
            <a:ext cx="10515600" cy="1716475"/>
          </a:xfrm>
        </p:spPr>
        <p:txBody>
          <a:bodyPr>
            <a:normAutofit fontScale="55000" lnSpcReduction="20000"/>
          </a:bodyPr>
          <a:lstStyle/>
          <a:p>
            <a:r>
              <a:rPr lang="it-IT" dirty="0" err="1"/>
              <a:t>Based</a:t>
            </a:r>
            <a:r>
              <a:rPr lang="it-IT" dirty="0"/>
              <a:t> on </a:t>
            </a:r>
            <a:r>
              <a:rPr lang="it-IT" dirty="0" err="1"/>
              <a:t>availability</a:t>
            </a:r>
            <a:r>
              <a:rPr lang="it-IT" dirty="0"/>
              <a:t> of body </a:t>
            </a:r>
            <a:r>
              <a:rPr lang="it-IT" dirty="0" err="1"/>
              <a:t>tubes</a:t>
            </a:r>
            <a:r>
              <a:rPr lang="it-IT" dirty="0"/>
              <a:t> and </a:t>
            </a:r>
            <a:r>
              <a:rPr lang="it-IT" dirty="0" err="1"/>
              <a:t>avionics</a:t>
            </a:r>
            <a:r>
              <a:rPr lang="it-IT" dirty="0"/>
              <a:t> </a:t>
            </a:r>
            <a:r>
              <a:rPr lang="it-IT" dirty="0" err="1"/>
              <a:t>current</a:t>
            </a:r>
            <a:r>
              <a:rPr lang="it-IT" dirty="0"/>
              <a:t> state </a:t>
            </a:r>
            <a:r>
              <a:rPr lang="it-IT" dirty="0" err="1"/>
              <a:t>select</a:t>
            </a:r>
            <a:r>
              <a:rPr lang="it-IT" dirty="0"/>
              <a:t> rocket </a:t>
            </a:r>
            <a:r>
              <a:rPr lang="it-IT" dirty="0" err="1"/>
              <a:t>caliber</a:t>
            </a:r>
            <a:r>
              <a:rPr lang="it-IT" dirty="0"/>
              <a:t>. </a:t>
            </a:r>
          </a:p>
          <a:p>
            <a:r>
              <a:rPr lang="it-IT" dirty="0" err="1"/>
              <a:t>Roughly</a:t>
            </a:r>
            <a:r>
              <a:rPr lang="it-IT" dirty="0"/>
              <a:t> body </a:t>
            </a:r>
            <a:r>
              <a:rPr lang="it-IT" dirty="0" err="1"/>
              <a:t>length</a:t>
            </a:r>
            <a:r>
              <a:rPr lang="it-IT" dirty="0"/>
              <a:t>/D = 10</a:t>
            </a:r>
          </a:p>
          <a:p>
            <a:r>
              <a:rPr lang="it-IT" dirty="0"/>
              <a:t>Select </a:t>
            </a:r>
            <a:r>
              <a:rPr lang="it-IT" dirty="0" err="1"/>
              <a:t>Nosecone</a:t>
            </a:r>
            <a:r>
              <a:rPr lang="it-IT" dirty="0"/>
              <a:t> </a:t>
            </a:r>
            <a:r>
              <a:rPr lang="it-IT" dirty="0" err="1"/>
              <a:t>length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2D</a:t>
            </a:r>
          </a:p>
          <a:p>
            <a:r>
              <a:rPr lang="it-IT" dirty="0"/>
              <a:t>Place the </a:t>
            </a:r>
            <a:r>
              <a:rPr lang="it-IT" dirty="0" err="1"/>
              <a:t>components</a:t>
            </a:r>
            <a:r>
              <a:rPr lang="it-IT" dirty="0"/>
              <a:t> after checking </a:t>
            </a:r>
            <a:r>
              <a:rPr lang="it-IT" dirty="0" err="1"/>
              <a:t>real</a:t>
            </a:r>
            <a:r>
              <a:rPr lang="it-IT" dirty="0"/>
              <a:t> life mass of </a:t>
            </a:r>
            <a:r>
              <a:rPr lang="it-IT" dirty="0" err="1"/>
              <a:t>them</a:t>
            </a:r>
            <a:endParaRPr lang="it-IT" dirty="0"/>
          </a:p>
          <a:p>
            <a:r>
              <a:rPr lang="it-IT" dirty="0"/>
              <a:t>Make a </a:t>
            </a:r>
            <a:r>
              <a:rPr lang="it-IT" dirty="0" err="1"/>
              <a:t>preliminary</a:t>
            </a:r>
            <a:r>
              <a:rPr lang="it-IT" dirty="0"/>
              <a:t> fin design: </a:t>
            </a:r>
            <a:r>
              <a:rPr lang="it-IT" dirty="0" err="1"/>
              <a:t>f_span</a:t>
            </a:r>
            <a:r>
              <a:rPr lang="it-IT" dirty="0"/>
              <a:t> = D ; </a:t>
            </a:r>
            <a:r>
              <a:rPr lang="it-IT" dirty="0" err="1"/>
              <a:t>f_root</a:t>
            </a:r>
            <a:r>
              <a:rPr lang="it-IT" dirty="0"/>
              <a:t> = 1.5*</a:t>
            </a:r>
            <a:r>
              <a:rPr lang="it-IT" dirty="0" err="1"/>
              <a:t>f_span</a:t>
            </a:r>
            <a:r>
              <a:rPr lang="it-IT" dirty="0"/>
              <a:t> ; </a:t>
            </a:r>
            <a:r>
              <a:rPr lang="it-IT" dirty="0" err="1"/>
              <a:t>f_tip</a:t>
            </a:r>
            <a:r>
              <a:rPr lang="it-IT" dirty="0"/>
              <a:t> = D/2 ; </a:t>
            </a:r>
            <a:r>
              <a:rPr lang="it-IT" dirty="0" err="1"/>
              <a:t>enough</a:t>
            </a:r>
            <a:r>
              <a:rPr lang="it-IT" dirty="0"/>
              <a:t> </a:t>
            </a:r>
            <a:r>
              <a:rPr lang="it-IT" dirty="0" err="1"/>
              <a:t>sweep</a:t>
            </a:r>
            <a:r>
              <a:rPr lang="it-IT" dirty="0"/>
              <a:t> to </a:t>
            </a:r>
            <a:r>
              <a:rPr lang="it-IT" dirty="0" err="1"/>
              <a:t>maximize</a:t>
            </a:r>
            <a:r>
              <a:rPr lang="it-IT" dirty="0"/>
              <a:t> </a:t>
            </a:r>
            <a:r>
              <a:rPr lang="it-IT" dirty="0" err="1"/>
              <a:t>stability</a:t>
            </a:r>
            <a:endParaRPr lang="it-IT" dirty="0"/>
          </a:p>
        </p:txBody>
      </p:sp>
      <p:pic>
        <p:nvPicPr>
          <p:cNvPr id="5" name="Immagine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5F1427EC-DE0D-4DC4-B73A-42EFEA8E5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8679"/>
            <a:ext cx="9724979" cy="264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955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6CB29C-0C9A-F52E-E107-A9FE39CF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Procedure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62E3D3-BED6-2C00-0106-1F7DE31C0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15934"/>
            <a:ext cx="10515600" cy="1976941"/>
          </a:xfrm>
        </p:spPr>
        <p:txBody>
          <a:bodyPr/>
          <a:lstStyle/>
          <a:p>
            <a:r>
              <a:rPr lang="it-IT" dirty="0"/>
              <a:t>Select a </a:t>
            </a:r>
            <a:r>
              <a:rPr lang="it-IT" dirty="0" err="1"/>
              <a:t>suitable</a:t>
            </a:r>
            <a:r>
              <a:rPr lang="it-IT" dirty="0"/>
              <a:t> </a:t>
            </a:r>
            <a:r>
              <a:rPr lang="it-IT" dirty="0" err="1"/>
              <a:t>motor</a:t>
            </a:r>
            <a:r>
              <a:rPr lang="it-IT" dirty="0"/>
              <a:t> for the mass budget. Target </a:t>
            </a:r>
            <a:r>
              <a:rPr lang="it-IT" dirty="0" err="1"/>
              <a:t>apogee</a:t>
            </a:r>
            <a:r>
              <a:rPr lang="it-IT" dirty="0"/>
              <a:t> 200-300m</a:t>
            </a:r>
          </a:p>
          <a:p>
            <a:endParaRPr lang="it-IT" dirty="0"/>
          </a:p>
        </p:txBody>
      </p:sp>
      <p:pic>
        <p:nvPicPr>
          <p:cNvPr id="5" name="Immagine 4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02BBB351-B077-D08A-A660-1B1600E4F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268" y="1193490"/>
            <a:ext cx="4409428" cy="319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935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5AFED3-AEE1-6963-F66C-6F13AE43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Procedure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7ED3DA-EF67-E843-1482-6CC87402C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38907"/>
            <a:ext cx="10515600" cy="1538056"/>
          </a:xfrm>
        </p:spPr>
        <p:txBody>
          <a:bodyPr/>
          <a:lstStyle/>
          <a:p>
            <a:r>
              <a:rPr lang="it-IT" dirty="0"/>
              <a:t>Make a CAD model with the </a:t>
            </a:r>
            <a:r>
              <a:rPr lang="it-IT" dirty="0" err="1"/>
              <a:t>real</a:t>
            </a:r>
            <a:r>
              <a:rPr lang="it-IT" dirty="0"/>
              <a:t> life component masses and </a:t>
            </a:r>
            <a:r>
              <a:rPr lang="it-IT" dirty="0" err="1"/>
              <a:t>dimensions</a:t>
            </a:r>
            <a:endParaRPr lang="it-IT" dirty="0"/>
          </a:p>
          <a:p>
            <a:r>
              <a:rPr lang="it-IT" dirty="0" err="1"/>
              <a:t>Get</a:t>
            </a:r>
            <a:r>
              <a:rPr lang="it-IT" dirty="0"/>
              <a:t> a </a:t>
            </a:r>
            <a:r>
              <a:rPr lang="it-IT" dirty="0" err="1"/>
              <a:t>better</a:t>
            </a:r>
            <a:r>
              <a:rPr lang="it-IT" dirty="0"/>
              <a:t> estimate of </a:t>
            </a:r>
            <a:r>
              <a:rPr lang="it-IT" dirty="0" err="1"/>
              <a:t>Izz</a:t>
            </a:r>
            <a:r>
              <a:rPr lang="it-IT" dirty="0"/>
              <a:t> for the 2DOF </a:t>
            </a:r>
            <a:r>
              <a:rPr lang="it-IT" dirty="0" err="1"/>
              <a:t>simulation</a:t>
            </a:r>
            <a:endParaRPr lang="it-IT" dirty="0"/>
          </a:p>
        </p:txBody>
      </p:sp>
      <p:pic>
        <p:nvPicPr>
          <p:cNvPr id="5" name="Immagine 4" descr="Immagine che contiene razzo&#10;&#10;Il contenuto generato dall'IA potrebbe non essere corretto.">
            <a:extLst>
              <a:ext uri="{FF2B5EF4-FFF2-40B4-BE49-F238E27FC236}">
                <a16:creationId xmlns:a16="http://schemas.microsoft.com/office/drawing/2014/main" id="{71768A55-5952-6F51-44FE-8D77611BB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800" y="1219075"/>
            <a:ext cx="6565900" cy="298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459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B9C3EC-F476-DFC2-327F-9C4C35BB0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Procedure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AC4A3B-9A9F-230F-CEC8-057DD984F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67200"/>
            <a:ext cx="10515600" cy="1909762"/>
          </a:xfrm>
        </p:spPr>
        <p:txBody>
          <a:bodyPr>
            <a:normAutofit/>
          </a:bodyPr>
          <a:lstStyle/>
          <a:p>
            <a:r>
              <a:rPr lang="it-IT" sz="1800" dirty="0"/>
              <a:t>Make a 2DOF </a:t>
            </a:r>
            <a:r>
              <a:rPr lang="it-IT" sz="1800" dirty="0" err="1"/>
              <a:t>simulation</a:t>
            </a:r>
            <a:r>
              <a:rPr lang="it-IT" sz="1800" dirty="0"/>
              <a:t> in </a:t>
            </a:r>
            <a:r>
              <a:rPr lang="it-IT" sz="1800" dirty="0" err="1"/>
              <a:t>Simulink</a:t>
            </a:r>
            <a:r>
              <a:rPr lang="it-IT" sz="1800" dirty="0"/>
              <a:t> </a:t>
            </a:r>
            <a:r>
              <a:rPr lang="it-IT" sz="1800" dirty="0" err="1"/>
              <a:t>modeling</a:t>
            </a:r>
            <a:r>
              <a:rPr lang="it-IT" sz="1800" dirty="0"/>
              <a:t> </a:t>
            </a:r>
            <a:r>
              <a:rPr lang="it-IT" sz="1800" dirty="0" err="1"/>
              <a:t>thrust</a:t>
            </a:r>
            <a:r>
              <a:rPr lang="it-IT" sz="1800" dirty="0"/>
              <a:t>, drag, </a:t>
            </a:r>
            <a:r>
              <a:rPr lang="it-IT" sz="1800" dirty="0" err="1"/>
              <a:t>gravity</a:t>
            </a:r>
            <a:r>
              <a:rPr lang="it-IT" sz="1800" dirty="0"/>
              <a:t> for z </a:t>
            </a:r>
            <a:r>
              <a:rPr lang="it-IT" sz="1800" dirty="0" err="1"/>
              <a:t>translations</a:t>
            </a:r>
            <a:r>
              <a:rPr lang="it-IT" sz="1800" dirty="0"/>
              <a:t> and fin </a:t>
            </a:r>
            <a:r>
              <a:rPr lang="it-IT" sz="1800" dirty="0" err="1"/>
              <a:t>misalignment</a:t>
            </a:r>
            <a:r>
              <a:rPr lang="it-IT" sz="1800" dirty="0"/>
              <a:t> torque (forcing and </a:t>
            </a:r>
            <a:r>
              <a:rPr lang="it-IT" sz="1800" dirty="0" err="1"/>
              <a:t>restoring</a:t>
            </a:r>
            <a:r>
              <a:rPr lang="it-IT" sz="1800" dirty="0"/>
              <a:t> with </a:t>
            </a:r>
            <a:r>
              <a:rPr lang="it-IT" sz="1800" dirty="0" err="1"/>
              <a:t>real</a:t>
            </a:r>
            <a:r>
              <a:rPr lang="it-IT" sz="1800" dirty="0"/>
              <a:t> </a:t>
            </a:r>
            <a:r>
              <a:rPr lang="it-IT" sz="1800" dirty="0" err="1"/>
              <a:t>aoa</a:t>
            </a:r>
            <a:r>
              <a:rPr lang="it-IT" sz="1800" dirty="0"/>
              <a:t> </a:t>
            </a:r>
            <a:r>
              <a:rPr lang="it-IT" sz="1800" dirty="0" err="1"/>
              <a:t>correction</a:t>
            </a:r>
            <a:r>
              <a:rPr lang="it-IT" sz="1800" dirty="0"/>
              <a:t> and no small angle </a:t>
            </a:r>
            <a:r>
              <a:rPr lang="it-IT" sz="1800" dirty="0" err="1"/>
              <a:t>approximation</a:t>
            </a:r>
            <a:r>
              <a:rPr lang="it-IT" sz="1800" dirty="0"/>
              <a:t>) , fin tab torque (with </a:t>
            </a:r>
            <a:r>
              <a:rPr lang="it-IT" sz="1800" dirty="0" err="1"/>
              <a:t>real</a:t>
            </a:r>
            <a:r>
              <a:rPr lang="it-IT" sz="1800" dirty="0"/>
              <a:t> </a:t>
            </a:r>
            <a:r>
              <a:rPr lang="it-IT" sz="1800" dirty="0" err="1"/>
              <a:t>aoa</a:t>
            </a:r>
            <a:r>
              <a:rPr lang="it-IT" sz="1800" dirty="0"/>
              <a:t> </a:t>
            </a:r>
            <a:r>
              <a:rPr lang="it-IT" sz="1800" dirty="0" err="1"/>
              <a:t>correction</a:t>
            </a:r>
            <a:r>
              <a:rPr lang="it-IT" sz="1800" dirty="0"/>
              <a:t>)</a:t>
            </a:r>
          </a:p>
          <a:p>
            <a:r>
              <a:rPr lang="it-IT" sz="1800" dirty="0" err="1"/>
              <a:t>Implement</a:t>
            </a:r>
            <a:r>
              <a:rPr lang="it-IT" sz="1800" dirty="0"/>
              <a:t> a PID </a:t>
            </a:r>
            <a:r>
              <a:rPr lang="it-IT" sz="1800" dirty="0" err="1"/>
              <a:t>based</a:t>
            </a:r>
            <a:r>
              <a:rPr lang="it-IT" sz="1800" dirty="0"/>
              <a:t> control system with </a:t>
            </a:r>
            <a:r>
              <a:rPr lang="it-IT" sz="1800" dirty="0" err="1"/>
              <a:t>constant</a:t>
            </a:r>
            <a:r>
              <a:rPr lang="it-IT" sz="1800" dirty="0"/>
              <a:t> </a:t>
            </a:r>
            <a:r>
              <a:rPr lang="it-IT" sz="1800" dirty="0" err="1"/>
              <a:t>Kp</a:t>
            </a:r>
            <a:r>
              <a:rPr lang="it-IT" sz="1800" dirty="0"/>
              <a:t> </a:t>
            </a:r>
            <a:r>
              <a:rPr lang="it-IT" sz="1800" dirty="0" err="1"/>
              <a:t>Ki</a:t>
            </a:r>
            <a:r>
              <a:rPr lang="it-IT" sz="1800" dirty="0"/>
              <a:t> </a:t>
            </a:r>
            <a:r>
              <a:rPr lang="it-IT" sz="1800" dirty="0" err="1"/>
              <a:t>Kd</a:t>
            </a:r>
            <a:r>
              <a:rPr lang="it-IT" sz="1800" dirty="0"/>
              <a:t> and N </a:t>
            </a:r>
            <a:r>
              <a:rPr lang="it-IT" sz="1800" dirty="0" err="1"/>
              <a:t>values</a:t>
            </a:r>
            <a:r>
              <a:rPr lang="it-IT" sz="1800" dirty="0"/>
              <a:t> (</a:t>
            </a:r>
            <a:r>
              <a:rPr lang="it-IT" sz="1800" dirty="0" err="1"/>
              <a:t>convert</a:t>
            </a:r>
            <a:r>
              <a:rPr lang="it-IT" sz="1800" dirty="0"/>
              <a:t> </a:t>
            </a:r>
            <a:r>
              <a:rPr lang="it-IT" sz="1800" dirty="0" err="1"/>
              <a:t>exponential</a:t>
            </a:r>
            <a:r>
              <a:rPr lang="it-IT" sz="1800" dirty="0"/>
              <a:t> filter alpha to N). The </a:t>
            </a:r>
            <a:r>
              <a:rPr lang="it-IT" sz="1800" dirty="0" err="1"/>
              <a:t>problem</a:t>
            </a:r>
            <a:r>
              <a:rPr lang="it-IT" sz="1800" dirty="0"/>
              <a:t> </a:t>
            </a:r>
            <a:r>
              <a:rPr lang="it-IT" sz="1800" dirty="0" err="1"/>
              <a:t>is</a:t>
            </a:r>
            <a:r>
              <a:rPr lang="it-IT" sz="1800" dirty="0"/>
              <a:t> linear time </a:t>
            </a:r>
            <a:r>
              <a:rPr lang="it-IT" sz="1800" dirty="0" err="1"/>
              <a:t>independent</a:t>
            </a:r>
            <a:r>
              <a:rPr lang="it-IT" sz="1800" dirty="0"/>
              <a:t> so the controller can be </a:t>
            </a:r>
            <a:r>
              <a:rPr lang="it-IT" sz="1800" dirty="0" err="1"/>
              <a:t>tuned</a:t>
            </a:r>
            <a:r>
              <a:rPr lang="it-IT" sz="1800" dirty="0"/>
              <a:t> </a:t>
            </a:r>
            <a:r>
              <a:rPr lang="it-IT" sz="1800" dirty="0" err="1"/>
              <a:t>pretty</a:t>
            </a:r>
            <a:r>
              <a:rPr lang="it-IT" sz="1800" dirty="0"/>
              <a:t> </a:t>
            </a:r>
            <a:r>
              <a:rPr lang="it-IT" sz="1800" dirty="0" err="1"/>
              <a:t>well</a:t>
            </a:r>
            <a:endParaRPr lang="it-IT" sz="1800" dirty="0"/>
          </a:p>
          <a:p>
            <a:r>
              <a:rPr lang="it-IT" sz="1800" dirty="0"/>
              <a:t>Make the PID controller discrete and </a:t>
            </a:r>
            <a:r>
              <a:rPr lang="it-IT" sz="1800" dirty="0" err="1"/>
              <a:t>same</a:t>
            </a:r>
            <a:r>
              <a:rPr lang="it-IT" sz="1800" dirty="0"/>
              <a:t> Hz </a:t>
            </a:r>
            <a:r>
              <a:rPr lang="it-IT" sz="1800" dirty="0" err="1"/>
              <a:t>as</a:t>
            </a:r>
            <a:r>
              <a:rPr lang="it-IT" sz="1800" dirty="0"/>
              <a:t> </a:t>
            </a:r>
            <a:r>
              <a:rPr lang="it-IT" sz="1800" dirty="0" err="1"/>
              <a:t>Avionics</a:t>
            </a:r>
            <a:r>
              <a:rPr lang="it-IT" sz="1800" dirty="0"/>
              <a:t>. </a:t>
            </a:r>
            <a:r>
              <a:rPr lang="it-IT" sz="1800" dirty="0" err="1"/>
              <a:t>Add</a:t>
            </a:r>
            <a:r>
              <a:rPr lang="it-IT" sz="1800" dirty="0"/>
              <a:t> servo </a:t>
            </a:r>
            <a:r>
              <a:rPr lang="it-IT" sz="1800" dirty="0" err="1"/>
              <a:t>realistic</a:t>
            </a:r>
            <a:r>
              <a:rPr lang="it-IT" sz="1800" dirty="0"/>
              <a:t> </a:t>
            </a:r>
            <a:r>
              <a:rPr lang="it-IT" sz="1800" dirty="0" err="1"/>
              <a:t>behaviour</a:t>
            </a:r>
            <a:endParaRPr lang="it-IT" sz="1800" dirty="0"/>
          </a:p>
        </p:txBody>
      </p:sp>
      <p:pic>
        <p:nvPicPr>
          <p:cNvPr id="5" name="Immagine 4" descr="Immagine che contiene diagramma, Piano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07C463CE-966B-9ADE-CBB2-7343F4896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47390"/>
            <a:ext cx="8166100" cy="279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587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1663</Words>
  <Application>Microsoft Office PowerPoint</Application>
  <PresentationFormat>Widescreen</PresentationFormat>
  <Paragraphs>144</Paragraphs>
  <Slides>49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49</vt:i4>
      </vt:variant>
    </vt:vector>
  </HeadingPairs>
  <TitlesOfParts>
    <vt:vector size="55" baseType="lpstr">
      <vt:lpstr>Aptos</vt:lpstr>
      <vt:lpstr>Aptos Display</vt:lpstr>
      <vt:lpstr>Arial</vt:lpstr>
      <vt:lpstr>Cambria Math</vt:lpstr>
      <vt:lpstr>Wingdings</vt:lpstr>
      <vt:lpstr>Tema di Office</vt:lpstr>
      <vt:lpstr>ROLL CONTROL ROCKET</vt:lpstr>
      <vt:lpstr>1-Introduction</vt:lpstr>
      <vt:lpstr>1-a Concept &amp; Motivations</vt:lpstr>
      <vt:lpstr>1-a Concept &amp; Motivations</vt:lpstr>
      <vt:lpstr>1-b Goals</vt:lpstr>
      <vt:lpstr>2-Dynamics</vt:lpstr>
      <vt:lpstr>2-a Reference System </vt:lpstr>
      <vt:lpstr>2-b Equations</vt:lpstr>
      <vt:lpstr>2-c Aerodynamic Modeling</vt:lpstr>
      <vt:lpstr>2-d Disturbances</vt:lpstr>
      <vt:lpstr>3- Modeling and Simulation</vt:lpstr>
      <vt:lpstr>3-a Implementation on Simulink</vt:lpstr>
      <vt:lpstr>3-b Actuator Dynamics</vt:lpstr>
      <vt:lpstr>3-c Sensor Modeling</vt:lpstr>
      <vt:lpstr>4-Control System Design</vt:lpstr>
      <vt:lpstr>4-a Controller structure</vt:lpstr>
      <vt:lpstr>4-b Control surfaces sizing</vt:lpstr>
      <vt:lpstr>4-c Tuning</vt:lpstr>
      <vt:lpstr>4-d Stability and Performance</vt:lpstr>
      <vt:lpstr>5-Embedded Systems Implementation</vt:lpstr>
      <vt:lpstr>5-a Hardware architecture</vt:lpstr>
      <vt:lpstr>5-b Software architecture </vt:lpstr>
      <vt:lpstr>5-b Software architecture </vt:lpstr>
      <vt:lpstr>Estimation – Attitude (v1.0)</vt:lpstr>
      <vt:lpstr>Estimation – Attitude (v1.0)</vt:lpstr>
      <vt:lpstr>NAVIGATION STATE</vt:lpstr>
      <vt:lpstr>Estimation –Navigation (v1.0)</vt:lpstr>
      <vt:lpstr>Estimation –Navigation (v1.0)</vt:lpstr>
      <vt:lpstr>Estimation –Navigation (v1.0)</vt:lpstr>
      <vt:lpstr>Presentazione standard di PowerPoint</vt:lpstr>
      <vt:lpstr>5-c C++ code</vt:lpstr>
      <vt:lpstr>5-d Interface Sensors-Actuators</vt:lpstr>
      <vt:lpstr>6-Experimental Validation</vt:lpstr>
      <vt:lpstr>6-a Setup</vt:lpstr>
      <vt:lpstr>6-b Test Results</vt:lpstr>
      <vt:lpstr>7-Conclusions</vt:lpstr>
      <vt:lpstr>7-a Results</vt:lpstr>
      <vt:lpstr>7-b Limitations</vt:lpstr>
      <vt:lpstr>7-c Further work</vt:lpstr>
      <vt:lpstr>Rocket Sizing</vt:lpstr>
      <vt:lpstr>Rocket Sizing</vt:lpstr>
      <vt:lpstr>Goals v2</vt:lpstr>
      <vt:lpstr>The Active Control System</vt:lpstr>
      <vt:lpstr>The Active Control System</vt:lpstr>
      <vt:lpstr>Model</vt:lpstr>
      <vt:lpstr>Procedure</vt:lpstr>
      <vt:lpstr>Procedure</vt:lpstr>
      <vt:lpstr>Procedure</vt:lpstr>
      <vt:lpstr>Procedure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Naranza</dc:creator>
  <cp:lastModifiedBy>Luca Naranza</cp:lastModifiedBy>
  <cp:revision>36</cp:revision>
  <dcterms:created xsi:type="dcterms:W3CDTF">2025-12-12T12:48:08Z</dcterms:created>
  <dcterms:modified xsi:type="dcterms:W3CDTF">2026-05-24T22:16:30Z</dcterms:modified>
</cp:coreProperties>
</file>