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57" r:id="rId6"/>
    <p:sldId id="268" r:id="rId7"/>
    <p:sldId id="258" r:id="rId8"/>
    <p:sldId id="267" r:id="rId9"/>
    <p:sldId id="269" r:id="rId10"/>
    <p:sldId id="270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A6E6D8-88C6-E421-7355-871F5004C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B613FEF-5827-C505-905E-070A92767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9D1652-46F6-9B52-9D1F-EB5120FA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3CFF8A-F886-ABB6-97EA-81C06C81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EFE97D-A6D5-5199-4DFE-35A4F725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510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EAB17-14B7-A0D7-0991-7EBAFBBC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41F1DB-2457-EB08-5F44-086C9A20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1798F9-10BF-D3A4-0E21-A2C72D13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9EEA05-0017-39DA-BFB0-4CD82D67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913A45-4F9C-274D-7D8A-C09E6846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05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823D42-E8CA-7E27-AB6D-CD0CB0141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6CCC3C-AC1A-DA22-BB12-84F12A3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971DF9-35E4-7911-FBD7-BCFD8CD3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075EAB-B87E-44EC-30B8-CCC1D45D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FF8878-7223-88A9-A7E3-70F2B694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4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C433E3-5749-CCF2-4821-BAD55831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D0F1D6-1839-1916-058F-81E06E489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1677EF2-1C97-51D2-C877-6435F4A87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025973-0501-BF94-15BE-F48C000C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10DA8B-AEC9-332B-010B-FBF4FC99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12EE2BD-6306-4B03-138F-47A16105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823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E08F2-0EC0-1597-DF09-40AA5046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8F4A3E-E304-B7C2-11B2-AE89B654A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C86D00-D1E4-E9DB-E822-2EE180D8E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4CE30C-8097-D944-4E84-75DE6CEDB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471ED82-2D53-0530-C848-EF38EB074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B96857F-BD6C-BCE2-B60D-39788737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B6817DA-BB8C-89DA-792C-128E75AA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907B266-C8CE-0828-208E-7D8CDFD4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4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18F16-B648-2885-9CAE-0ACB4810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C8B458-4CC0-7842-E80D-538E2C46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570B820-63C2-40B7-9021-1AF23F92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8AD5EDC-5EE7-6A3E-B498-8E7E0546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540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541F90D-BFFC-E0D9-C586-E2B7EFF8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A7133E-45EF-7BDF-4D92-A6AD4FBA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AF1882-1E23-3BA9-C6A6-6068DAD8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0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E1E32-5A04-7FFF-C7AA-0D3846E7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0B60B2-C0F5-CC5E-E9F9-CD9E0D07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E52D836-76F4-4BA3-3629-0FCC5B053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9986DD-05ED-660C-7384-120905DA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45938CE-AF65-00EF-70CF-C94559CB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380491D-F265-5499-1C90-1A6B0B42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491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F76841-2658-7D82-3804-507663C5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1EE0464-317F-AB0C-3CAF-EED551D00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E9D01B7-6B31-8860-F15D-E45CC005C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D3F7B1-4986-F963-162B-64695366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49289DE-F32D-248D-F608-7874EFF5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778578C-7B02-A227-CC9D-02245D42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271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87D708-B4CD-F509-48C2-FC7396C7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ECF42AE-25EF-7CB6-36DE-230F37C1E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B39E1D-8BD6-747D-A5BE-E2532222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764B11-1583-C6EC-D095-F49D83CB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BDE672-E1F0-1AE5-C7BD-EC35A800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652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A1831CD-B738-724F-DBCE-CC5557FEA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C9D0959-9318-6D76-47A6-133EB09DB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73DEA7-6FF8-41CC-5D76-422658FB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BA40E0-535C-9915-C2CF-FED0D212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A8E4EA-DD7D-7BCA-DFD5-BDC696B6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989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A94F151-A4E5-3709-04D2-53F51273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5B0BD6-4103-479D-4744-57C651AF4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2849C4-A5BA-1CE4-6A04-D4E68905E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D64F0-C8C1-4441-A463-449D6D645345}" type="datetimeFigureOut">
              <a:rPr lang="it-IT" smtClean="0"/>
              <a:t>24/05/2026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118768-3935-BBFF-6EE2-13C423734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0642E6-EEEC-ECDF-FA17-68E6FE7DE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AB188-7856-4506-972A-E1A803DE2B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52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6DC2F-F161-B433-0552-37B8E5D944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Explorer I Roll Control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13FDDA0-5FCB-258F-78C8-2FFD87E9F2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SOFTWARE UPGRADE </a:t>
            </a:r>
            <a:r>
              <a:rPr lang="it-IT" dirty="0" err="1"/>
              <a:t>Rtos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317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3C51CF-1F06-DDC7-A9A8-573F5607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 Architecture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910EE30-8436-AC3C-6D31-2DF4F1BA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1" y="1314450"/>
            <a:ext cx="2559498" cy="5399322"/>
          </a:xfrm>
          <a:prstGeom prst="rect">
            <a:avLst/>
          </a:prstGeom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316A25-1796-FB6D-E9C1-DFD4BEB0C634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1474470" y="1652280"/>
            <a:ext cx="2171700" cy="3840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76AB440-2A36-8111-7E32-C87E56047E9A}"/>
              </a:ext>
            </a:extLst>
          </p:cNvPr>
          <p:cNvSpPr txBox="1"/>
          <p:nvPr/>
        </p:nvSpPr>
        <p:spPr>
          <a:xfrm>
            <a:off x="3646170" y="1390670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CONFIG: </a:t>
            </a:r>
            <a:r>
              <a:rPr lang="it-IT" sz="1400" b="1" u="sng" dirty="0"/>
              <a:t>system </a:t>
            </a:r>
            <a:r>
              <a:rPr lang="it-IT" sz="1400" b="1" u="sng" dirty="0" err="1"/>
              <a:t>definition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pin mapping, </a:t>
            </a:r>
            <a:r>
              <a:rPr lang="it-IT" sz="1400" dirty="0" err="1"/>
              <a:t>physical</a:t>
            </a:r>
            <a:r>
              <a:rPr lang="it-IT" sz="1400" dirty="0"/>
              <a:t> </a:t>
            </a:r>
            <a:r>
              <a:rPr lang="it-IT" sz="1400" dirty="0" err="1"/>
              <a:t>constants</a:t>
            </a:r>
            <a:r>
              <a:rPr lang="it-IT" sz="1400" dirty="0"/>
              <a:t>, </a:t>
            </a:r>
            <a:r>
              <a:rPr lang="it-IT" sz="1400" dirty="0" err="1"/>
              <a:t>sensor</a:t>
            </a:r>
            <a:r>
              <a:rPr lang="it-IT" sz="1400" dirty="0"/>
              <a:t> </a:t>
            </a:r>
            <a:r>
              <a:rPr lang="it-IT" sz="1400" dirty="0" err="1"/>
              <a:t>configuration</a:t>
            </a:r>
            <a:r>
              <a:rPr lang="it-IT" sz="1400" dirty="0"/>
              <a:t>, control system GAINS, </a:t>
            </a:r>
            <a:r>
              <a:rPr lang="it-IT" sz="1400" dirty="0" err="1"/>
              <a:t>flight</a:t>
            </a:r>
            <a:r>
              <a:rPr lang="it-IT" sz="1400" dirty="0"/>
              <a:t> </a:t>
            </a:r>
            <a:r>
              <a:rPr lang="it-IT" sz="1400" dirty="0" err="1"/>
              <a:t>parameters</a:t>
            </a:r>
            <a:r>
              <a:rPr lang="it-IT" sz="1400" dirty="0"/>
              <a:t> </a:t>
            </a:r>
            <a:r>
              <a:rPr lang="it-IT" sz="1400" dirty="0" err="1"/>
              <a:t>constants</a:t>
            </a:r>
            <a:endParaRPr lang="it-IT" sz="1400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22ED51B-969F-AD9D-FCE4-E2C03583759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474470" y="1884997"/>
            <a:ext cx="2171700" cy="35238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3A9DFD5-3FD5-F016-68BA-E54DBCC05FCF}"/>
              </a:ext>
            </a:extLst>
          </p:cNvPr>
          <p:cNvSpPr txBox="1"/>
          <p:nvPr/>
        </p:nvSpPr>
        <p:spPr>
          <a:xfrm>
            <a:off x="3646170" y="1975771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DRIVERS: </a:t>
            </a:r>
            <a:r>
              <a:rPr lang="it-IT" sz="1400" b="1" u="sng" dirty="0"/>
              <a:t>hardware </a:t>
            </a:r>
            <a:r>
              <a:rPr lang="it-IT" sz="1400" b="1" u="sng" dirty="0" err="1"/>
              <a:t>interface</a:t>
            </a:r>
            <a:r>
              <a:rPr lang="it-IT" sz="1400" b="1" u="sng" dirty="0"/>
              <a:t> </a:t>
            </a:r>
            <a:r>
              <a:rPr lang="it-IT" sz="1400" b="1" u="sng" dirty="0" err="1"/>
              <a:t>layer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</a:t>
            </a:r>
            <a:r>
              <a:rPr lang="it-IT" sz="1400" dirty="0" err="1"/>
              <a:t>all</a:t>
            </a:r>
            <a:r>
              <a:rPr lang="it-IT" sz="1400" dirty="0"/>
              <a:t> </a:t>
            </a:r>
            <a:r>
              <a:rPr lang="it-IT" sz="1400" dirty="0" err="1"/>
              <a:t>sensors</a:t>
            </a:r>
            <a:r>
              <a:rPr lang="it-IT" sz="1400" dirty="0"/>
              <a:t> and hardware + </a:t>
            </a:r>
            <a:r>
              <a:rPr lang="it-IT" sz="1400" dirty="0" err="1"/>
              <a:t>telemetry</a:t>
            </a:r>
            <a:r>
              <a:rPr lang="it-IT" sz="1400" dirty="0"/>
              <a:t>; </a:t>
            </a:r>
            <a:r>
              <a:rPr lang="it-IT" sz="1400" dirty="0" err="1"/>
              <a:t>read</a:t>
            </a:r>
            <a:r>
              <a:rPr lang="it-IT" sz="1400" dirty="0"/>
              <a:t>/</a:t>
            </a:r>
            <a:r>
              <a:rPr lang="it-IT" sz="1400" dirty="0" err="1"/>
              <a:t>write</a:t>
            </a:r>
            <a:r>
              <a:rPr lang="it-IT" sz="1400" dirty="0"/>
              <a:t> hardware, </a:t>
            </a:r>
            <a:r>
              <a:rPr lang="it-IT" sz="1400" dirty="0" err="1"/>
              <a:t>convert</a:t>
            </a:r>
            <a:r>
              <a:rPr lang="it-IT" sz="1400" dirty="0"/>
              <a:t> </a:t>
            </a:r>
            <a:r>
              <a:rPr lang="it-IT" sz="1400" dirty="0" err="1"/>
              <a:t>raw</a:t>
            </a:r>
            <a:r>
              <a:rPr lang="it-IT" sz="1400" dirty="0"/>
              <a:t> I/O to </a:t>
            </a:r>
            <a:r>
              <a:rPr lang="it-IT" sz="1400" dirty="0" err="1"/>
              <a:t>basic</a:t>
            </a:r>
            <a:r>
              <a:rPr lang="it-IT" sz="1400" dirty="0"/>
              <a:t> </a:t>
            </a:r>
            <a:r>
              <a:rPr lang="it-IT" sz="1400" dirty="0" err="1"/>
              <a:t>units</a:t>
            </a:r>
            <a:endParaRPr lang="it-IT" sz="1400" dirty="0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6218E32-8412-7498-7166-4919E98C291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779270" y="3519411"/>
            <a:ext cx="1866900" cy="117607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33003BC-D03E-1784-1E73-DF3796F15A14}"/>
              </a:ext>
            </a:extLst>
          </p:cNvPr>
          <p:cNvSpPr txBox="1"/>
          <p:nvPr/>
        </p:nvSpPr>
        <p:spPr>
          <a:xfrm>
            <a:off x="3646170" y="3150079"/>
            <a:ext cx="82181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ESTIMATION: </a:t>
            </a:r>
            <a:r>
              <a:rPr lang="it-IT" sz="1400" b="1" u="sng" dirty="0"/>
              <a:t>turn </a:t>
            </a:r>
            <a:r>
              <a:rPr lang="en-US" sz="1400" b="1" u="sng" dirty="0"/>
              <a:t>raw sensor data into physical state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</a:t>
            </a:r>
            <a:r>
              <a:rPr lang="it-IT" sz="1400" dirty="0" err="1"/>
              <a:t>attitude</a:t>
            </a:r>
            <a:r>
              <a:rPr lang="it-IT" sz="1400" dirty="0"/>
              <a:t> </a:t>
            </a:r>
            <a:r>
              <a:rPr lang="it-IT" sz="1400" dirty="0" err="1"/>
              <a:t>estimation</a:t>
            </a:r>
            <a:r>
              <a:rPr lang="it-IT" sz="1400" dirty="0"/>
              <a:t>, </a:t>
            </a:r>
            <a:r>
              <a:rPr lang="it-IT" sz="1400" dirty="0" err="1"/>
              <a:t>navigation</a:t>
            </a:r>
            <a:r>
              <a:rPr lang="it-IT" sz="1400" dirty="0"/>
              <a:t> (</a:t>
            </a:r>
            <a:r>
              <a:rPr lang="it-IT" sz="1400" dirty="0" err="1"/>
              <a:t>velocity</a:t>
            </a:r>
            <a:r>
              <a:rPr lang="it-IT" sz="1400" dirty="0"/>
              <a:t> and position), filters, </a:t>
            </a:r>
            <a:r>
              <a:rPr lang="it-IT" sz="1400" dirty="0" err="1"/>
              <a:t>quaternion</a:t>
            </a:r>
            <a:r>
              <a:rPr lang="it-IT" sz="1400" dirty="0"/>
              <a:t> </a:t>
            </a:r>
            <a:r>
              <a:rPr lang="it-IT" sz="1400" dirty="0" err="1"/>
              <a:t>math</a:t>
            </a:r>
            <a:r>
              <a:rPr lang="it-IT" sz="1400" dirty="0"/>
              <a:t>, IMU processing fusion; Outputs: roll, pitch, </a:t>
            </a:r>
            <a:r>
              <a:rPr lang="it-IT" sz="1400" dirty="0" err="1"/>
              <a:t>yaw</a:t>
            </a:r>
            <a:r>
              <a:rPr lang="it-IT" sz="1400" dirty="0"/>
              <a:t>, positions, </a:t>
            </a:r>
            <a:r>
              <a:rPr lang="it-IT" sz="1400" dirty="0" err="1"/>
              <a:t>velocities</a:t>
            </a:r>
            <a:r>
              <a:rPr lang="it-IT" sz="1400" dirty="0"/>
              <a:t>.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9347747E-EB1E-5FDA-1B7A-748EB709C528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1377315" y="4334657"/>
            <a:ext cx="2268855" cy="128198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C9E675CF-2DEF-0106-1186-37B43D96C3C0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2065020" y="5125697"/>
            <a:ext cx="1581150" cy="69469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25F1BD8-00C2-1273-D5C9-0F3F1827F59B}"/>
              </a:ext>
            </a:extLst>
          </p:cNvPr>
          <p:cNvSpPr txBox="1"/>
          <p:nvPr/>
        </p:nvSpPr>
        <p:spPr>
          <a:xfrm>
            <a:off x="3646170" y="4073047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SHARED: </a:t>
            </a:r>
            <a:r>
              <a:rPr lang="en-US" sz="1400" b="1" u="sng" dirty="0"/>
              <a:t>global runtime state (single source of truth)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system state, </a:t>
            </a:r>
            <a:r>
              <a:rPr lang="it-IT" sz="1400" dirty="0" err="1"/>
              <a:t>shared</a:t>
            </a:r>
            <a:r>
              <a:rPr lang="it-IT" sz="1400" dirty="0"/>
              <a:t> </a:t>
            </a:r>
            <a:r>
              <a:rPr lang="it-IT" sz="1400" dirty="0" err="1"/>
              <a:t>sensor</a:t>
            </a:r>
            <a:r>
              <a:rPr lang="it-IT" sz="1400" dirty="0"/>
              <a:t> </a:t>
            </a:r>
            <a:r>
              <a:rPr lang="it-IT" sz="1400" dirty="0" err="1"/>
              <a:t>values</a:t>
            </a:r>
            <a:r>
              <a:rPr lang="it-IT" sz="1400" dirty="0"/>
              <a:t>, </a:t>
            </a:r>
            <a:r>
              <a:rPr lang="it-IT" sz="1400" dirty="0" err="1"/>
              <a:t>commands</a:t>
            </a:r>
            <a:r>
              <a:rPr lang="it-IT" sz="1400" dirty="0"/>
              <a:t>, flags.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A787CFA-54FF-F2D2-2A3B-C9F5E1CB122F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1340167" y="5837816"/>
            <a:ext cx="2306003" cy="2512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1FAFE9F-6399-9F3A-D842-664734FD8511}"/>
              </a:ext>
            </a:extLst>
          </p:cNvPr>
          <p:cNvSpPr txBox="1"/>
          <p:nvPr/>
        </p:nvSpPr>
        <p:spPr>
          <a:xfrm>
            <a:off x="3646170" y="4864087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STATE MACHINE: </a:t>
            </a:r>
            <a:r>
              <a:rPr lang="it-IT" sz="1400" b="1" u="sng" dirty="0"/>
              <a:t>mission </a:t>
            </a:r>
            <a:r>
              <a:rPr lang="it-IT" sz="1400" b="1" u="sng" dirty="0" err="1"/>
              <a:t>logic</a:t>
            </a:r>
            <a:r>
              <a:rPr lang="it-IT" sz="1400" b="1" u="sng" dirty="0"/>
              <a:t> brain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operative mode </a:t>
            </a:r>
            <a:r>
              <a:rPr lang="it-IT" sz="1400" dirty="0" err="1"/>
              <a:t>states</a:t>
            </a:r>
            <a:r>
              <a:rPr lang="it-IT" sz="1400" dirty="0"/>
              <a:t> (0-6), </a:t>
            </a:r>
            <a:r>
              <a:rPr lang="it-IT" sz="1400" dirty="0" err="1"/>
              <a:t>transition</a:t>
            </a:r>
            <a:r>
              <a:rPr lang="it-IT" sz="1400" dirty="0"/>
              <a:t> </a:t>
            </a:r>
            <a:r>
              <a:rPr lang="it-IT" sz="1400" dirty="0" err="1"/>
              <a:t>conditions</a:t>
            </a:r>
            <a:r>
              <a:rPr lang="it-IT" sz="1400" dirty="0"/>
              <a:t>, </a:t>
            </a:r>
            <a:r>
              <a:rPr lang="it-IT" sz="1400" dirty="0" err="1"/>
              <a:t>safety</a:t>
            </a:r>
            <a:r>
              <a:rPr lang="it-IT" sz="1400" dirty="0"/>
              <a:t> </a:t>
            </a:r>
            <a:r>
              <a:rPr lang="it-IT" sz="1400" dirty="0" err="1"/>
              <a:t>logic</a:t>
            </a:r>
            <a:r>
              <a:rPr lang="it-IT" sz="1400" dirty="0"/>
              <a:t>, event </a:t>
            </a:r>
            <a:r>
              <a:rPr lang="it-IT" sz="1400" dirty="0" err="1"/>
              <a:t>interpretation</a:t>
            </a:r>
            <a:r>
              <a:rPr lang="it-IT" sz="1400" dirty="0"/>
              <a:t>.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63FA64C-58AA-5077-531D-7050DB60A87E}"/>
              </a:ext>
            </a:extLst>
          </p:cNvPr>
          <p:cNvSpPr txBox="1"/>
          <p:nvPr/>
        </p:nvSpPr>
        <p:spPr>
          <a:xfrm>
            <a:off x="3646170" y="5576206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TASKS: </a:t>
            </a:r>
            <a:r>
              <a:rPr lang="it-IT" sz="1400" b="1" u="sng" dirty="0" err="1"/>
              <a:t>runtime</a:t>
            </a:r>
            <a:r>
              <a:rPr lang="it-IT" sz="1400" b="1" u="sng" dirty="0"/>
              <a:t> </a:t>
            </a:r>
            <a:r>
              <a:rPr lang="it-IT" sz="1400" b="1" u="sng" dirty="0" err="1"/>
              <a:t>execution</a:t>
            </a:r>
            <a:r>
              <a:rPr lang="it-IT" sz="1400" b="1" u="sng" dirty="0"/>
              <a:t> </a:t>
            </a:r>
            <a:r>
              <a:rPr lang="it-IT" sz="1400" b="1" u="sng" dirty="0" err="1"/>
              <a:t>scheduler</a:t>
            </a:r>
            <a:r>
              <a:rPr lang="it-IT" sz="1400" b="1" u="sng" dirty="0"/>
              <a:t> (RTOS)</a:t>
            </a:r>
            <a:r>
              <a:rPr lang="it-IT" sz="1400" dirty="0"/>
              <a:t>;</a:t>
            </a:r>
            <a:r>
              <a:rPr lang="it-IT" sz="1400" b="1" u="sng" dirty="0"/>
              <a:t> </a:t>
            </a:r>
            <a:r>
              <a:rPr lang="it-IT" sz="1400" dirty="0" err="1"/>
              <a:t>contains</a:t>
            </a:r>
            <a:r>
              <a:rPr lang="it-IT" sz="1400" dirty="0"/>
              <a:t>: task. ; </a:t>
            </a:r>
            <a:r>
              <a:rPr lang="it-IT" sz="1400" dirty="0" err="1"/>
              <a:t>Manage</a:t>
            </a:r>
            <a:r>
              <a:rPr lang="it-IT" sz="1400" dirty="0"/>
              <a:t> timing (</a:t>
            </a:r>
            <a:r>
              <a:rPr lang="it-IT" sz="1400" dirty="0" err="1"/>
              <a:t>dt</a:t>
            </a:r>
            <a:r>
              <a:rPr lang="it-IT" sz="1400" dirty="0"/>
              <a:t>), </a:t>
            </a:r>
            <a:r>
              <a:rPr lang="it-IT" sz="1400" dirty="0" err="1"/>
              <a:t>ensure</a:t>
            </a:r>
            <a:r>
              <a:rPr lang="it-IT" sz="1400" dirty="0"/>
              <a:t> system </a:t>
            </a:r>
            <a:r>
              <a:rPr lang="it-IT" sz="1400" dirty="0" err="1"/>
              <a:t>runs</a:t>
            </a:r>
            <a:r>
              <a:rPr lang="it-IT" sz="1400" dirty="0"/>
              <a:t> </a:t>
            </a:r>
            <a:r>
              <a:rPr lang="it-IT" sz="1400" dirty="0" err="1"/>
              <a:t>deterministically</a:t>
            </a:r>
            <a:r>
              <a:rPr lang="it-IT" sz="1400" dirty="0"/>
              <a:t>, call </a:t>
            </a:r>
            <a:r>
              <a:rPr lang="it-IT" sz="1400" dirty="0" err="1"/>
              <a:t>modules</a:t>
            </a:r>
            <a:r>
              <a:rPr lang="it-IT" sz="1400" dirty="0"/>
              <a:t> in </a:t>
            </a:r>
            <a:r>
              <a:rPr lang="it-IT" sz="1400" dirty="0" err="1"/>
              <a:t>correct</a:t>
            </a:r>
            <a:r>
              <a:rPr lang="it-IT" sz="1400" dirty="0"/>
              <a:t> </a:t>
            </a:r>
            <a:r>
              <a:rPr lang="it-IT" sz="1400" dirty="0" err="1"/>
              <a:t>order</a:t>
            </a:r>
            <a:endParaRPr lang="it-IT" sz="1400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9C3EDB78-087C-94F5-DCDF-DCB9BB7C1348}"/>
              </a:ext>
            </a:extLst>
          </p:cNvPr>
          <p:cNvSpPr txBox="1"/>
          <p:nvPr/>
        </p:nvSpPr>
        <p:spPr>
          <a:xfrm>
            <a:off x="3646170" y="6231265"/>
            <a:ext cx="821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UTILS: </a:t>
            </a:r>
            <a:r>
              <a:rPr lang="it-IT" sz="1400" b="1" u="sng" dirty="0" err="1"/>
              <a:t>reusable</a:t>
            </a:r>
            <a:r>
              <a:rPr lang="it-IT" sz="1400" b="1" u="sng" dirty="0"/>
              <a:t> pure </a:t>
            </a:r>
            <a:r>
              <a:rPr lang="it-IT" sz="1400" b="1" u="sng" dirty="0" err="1"/>
              <a:t>functions</a:t>
            </a:r>
            <a:r>
              <a:rPr lang="it-IT" sz="1400" dirty="0"/>
              <a:t>; </a:t>
            </a:r>
            <a:r>
              <a:rPr lang="it-IT" sz="1400" dirty="0" err="1"/>
              <a:t>contains</a:t>
            </a:r>
            <a:r>
              <a:rPr lang="it-IT" sz="1400" dirty="0"/>
              <a:t>: </a:t>
            </a:r>
            <a:r>
              <a:rPr lang="it-IT" sz="1400" dirty="0" err="1"/>
              <a:t>math</a:t>
            </a:r>
            <a:r>
              <a:rPr lang="it-IT" sz="1400" dirty="0"/>
              <a:t> utilities, filters, </a:t>
            </a:r>
            <a:r>
              <a:rPr lang="it-IT" sz="1400" dirty="0" err="1"/>
              <a:t>quaternion</a:t>
            </a:r>
            <a:r>
              <a:rPr lang="it-IT" sz="1400" dirty="0"/>
              <a:t> </a:t>
            </a:r>
            <a:r>
              <a:rPr lang="it-IT" sz="1400" dirty="0" err="1"/>
              <a:t>math</a:t>
            </a:r>
            <a:r>
              <a:rPr lang="it-IT" sz="1400" dirty="0"/>
              <a:t> </a:t>
            </a:r>
            <a:r>
              <a:rPr lang="it-IT" sz="1400" dirty="0" err="1"/>
              <a:t>helpers</a:t>
            </a:r>
            <a:r>
              <a:rPr lang="it-IT" sz="1400" dirty="0"/>
              <a:t>, timing </a:t>
            </a:r>
            <a:r>
              <a:rPr lang="it-IT" sz="1400" dirty="0" err="1"/>
              <a:t>helpers</a:t>
            </a:r>
            <a:r>
              <a:rPr lang="it-IT" sz="1400" dirty="0"/>
              <a:t>, </a:t>
            </a:r>
            <a:r>
              <a:rPr lang="it-IT" sz="1400" dirty="0" err="1"/>
              <a:t>unit</a:t>
            </a:r>
            <a:r>
              <a:rPr lang="it-IT" sz="1400" dirty="0"/>
              <a:t> </a:t>
            </a:r>
            <a:r>
              <a:rPr lang="it-IT" sz="1400" dirty="0" err="1"/>
              <a:t>conversion</a:t>
            </a:r>
            <a:r>
              <a:rPr lang="it-IT" sz="1400" dirty="0"/>
              <a:t> </a:t>
            </a:r>
            <a:r>
              <a:rPr lang="it-IT" sz="1400" dirty="0" err="1"/>
              <a:t>if</a:t>
            </a:r>
            <a:r>
              <a:rPr lang="it-IT" sz="1400" dirty="0"/>
              <a:t> </a:t>
            </a:r>
            <a:r>
              <a:rPr lang="it-IT" sz="1400" dirty="0" err="1"/>
              <a:t>complex</a:t>
            </a:r>
            <a:r>
              <a:rPr lang="it-IT" sz="1400" dirty="0"/>
              <a:t>.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9FF91DFC-CAFE-ED45-1870-A539F674CE81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377315" y="6314870"/>
            <a:ext cx="2268855" cy="17800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54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7975F47D-3377-EE43-BE42-2227641C2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8"/>
          <a:stretch>
            <a:fillRect/>
          </a:stretch>
        </p:blipFill>
        <p:spPr>
          <a:xfrm rot="16200000">
            <a:off x="2667000" y="-2667001"/>
            <a:ext cx="6858000" cy="121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5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3A3DD7-D8FB-E0AD-B21A-DE0FE12C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Block </a:t>
            </a:r>
            <a:r>
              <a:rPr lang="it-IT" dirty="0" err="1"/>
              <a:t>Diagram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E3EE9D9-0641-26E6-4A4B-AC82CB02B986}"/>
              </a:ext>
            </a:extLst>
          </p:cNvPr>
          <p:cNvSpPr txBox="1"/>
          <p:nvPr/>
        </p:nvSpPr>
        <p:spPr>
          <a:xfrm>
            <a:off x="932688" y="1690688"/>
            <a:ext cx="6665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DRIVERS (raw)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PROCESSING (physics clean data)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ESTIMATION (EKF)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FLIGHT STATE (decisions)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ACTUATORS (execution)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724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168E8-A67B-AA17-B702-FB4C978C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 </a:t>
            </a:r>
            <a:r>
              <a:rPr lang="it-IT" dirty="0" err="1"/>
              <a:t>Attitude</a:t>
            </a:r>
            <a:r>
              <a:rPr lang="it-IT" dirty="0"/>
              <a:t> (v1.0)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97EC16-E10A-6892-B929-7CF8879F8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Pitch</a:t>
            </a:r>
          </a:p>
          <a:p>
            <a:r>
              <a:rPr lang="it-IT" dirty="0"/>
              <a:t>Yaw </a:t>
            </a:r>
          </a:p>
          <a:p>
            <a:r>
              <a:rPr lang="it-IT" dirty="0"/>
              <a:t>Roll</a:t>
            </a:r>
          </a:p>
          <a:p>
            <a:r>
              <a:rPr lang="it-IT" dirty="0"/>
              <a:t>Heading </a:t>
            </a:r>
          </a:p>
        </p:txBody>
      </p:sp>
    </p:spTree>
    <p:extLst>
      <p:ext uri="{BB962C8B-B14F-4D97-AF65-F5344CB8AC3E}">
        <p14:creationId xmlns:p14="http://schemas.microsoft.com/office/powerpoint/2010/main" val="2411099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1E08350B-7FF9-1E9A-AEC4-7F2130F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 </a:t>
            </a:r>
            <a:r>
              <a:rPr lang="it-IT" dirty="0" err="1"/>
              <a:t>Attitude</a:t>
            </a:r>
            <a:r>
              <a:rPr lang="it-IT" dirty="0"/>
              <a:t> (v1.0)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73339A5-6DED-025D-B537-776C38856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769" y="1097280"/>
            <a:ext cx="7317841" cy="543990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571265-019E-4848-D2C7-73EC6ACB85B3}"/>
              </a:ext>
            </a:extLst>
          </p:cNvPr>
          <p:cNvSpPr txBox="1"/>
          <p:nvPr/>
        </p:nvSpPr>
        <p:spPr>
          <a:xfrm>
            <a:off x="694944" y="1097280"/>
            <a:ext cx="244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Pitch , Yaw , Roll</a:t>
            </a:r>
          </a:p>
        </p:txBody>
      </p:sp>
    </p:spTree>
    <p:extLst>
      <p:ext uri="{BB962C8B-B14F-4D97-AF65-F5344CB8AC3E}">
        <p14:creationId xmlns:p14="http://schemas.microsoft.com/office/powerpoint/2010/main" val="19714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F751D2-DD7B-E276-E789-53B1E64B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NAVIGATION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C1A9A3-CE92-74A0-E9E7-BC03B84F7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Lat</a:t>
            </a:r>
          </a:p>
          <a:p>
            <a:r>
              <a:rPr lang="it-IT" dirty="0" err="1"/>
              <a:t>Lng</a:t>
            </a:r>
            <a:endParaRPr lang="it-IT" dirty="0"/>
          </a:p>
          <a:p>
            <a:r>
              <a:rPr lang="it-IT" dirty="0"/>
              <a:t>X</a:t>
            </a:r>
          </a:p>
          <a:p>
            <a:r>
              <a:rPr lang="it-IT" dirty="0"/>
              <a:t>Y</a:t>
            </a:r>
          </a:p>
          <a:p>
            <a:r>
              <a:rPr lang="it-IT" dirty="0"/>
              <a:t>al </a:t>
            </a:r>
          </a:p>
          <a:p>
            <a:r>
              <a:rPr lang="it-IT" dirty="0" err="1"/>
              <a:t>Vx</a:t>
            </a:r>
            <a:endParaRPr lang="it-IT" dirty="0"/>
          </a:p>
          <a:p>
            <a:r>
              <a:rPr lang="it-IT" dirty="0" err="1"/>
              <a:t>Vy</a:t>
            </a:r>
            <a:endParaRPr lang="it-IT" dirty="0"/>
          </a:p>
          <a:p>
            <a:r>
              <a:rPr lang="it-IT" dirty="0" err="1"/>
              <a:t>Vz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7389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CD3BED78-06CC-0940-0615-FF03698B8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</a:t>
            </a:r>
            <a:r>
              <a:rPr lang="it-IT" dirty="0" err="1"/>
              <a:t>Navigation</a:t>
            </a:r>
            <a:r>
              <a:rPr lang="it-IT" dirty="0"/>
              <a:t> (v1.0)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8B27E91-E59C-ABE3-5244-9AEB69C92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29" y="1470431"/>
            <a:ext cx="9701784" cy="154677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7C1186-C81B-2C73-8AC1-4AFCBC2AF751}"/>
              </a:ext>
            </a:extLst>
          </p:cNvPr>
          <p:cNvSpPr txBox="1"/>
          <p:nvPr/>
        </p:nvSpPr>
        <p:spPr>
          <a:xfrm>
            <a:off x="667133" y="1106424"/>
            <a:ext cx="596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Z Position - </a:t>
            </a:r>
            <a:r>
              <a:rPr lang="it-IT" dirty="0" err="1"/>
              <a:t>estimation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ED6981-2774-3360-BD94-C3DD216B804D}"/>
              </a:ext>
            </a:extLst>
          </p:cNvPr>
          <p:cNvSpPr txBox="1"/>
          <p:nvPr/>
        </p:nvSpPr>
        <p:spPr>
          <a:xfrm>
            <a:off x="758952" y="3605933"/>
            <a:ext cx="2450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Z </a:t>
            </a:r>
            <a:r>
              <a:rPr lang="it-IT" dirty="0" err="1"/>
              <a:t>Velocity</a:t>
            </a:r>
            <a:r>
              <a:rPr lang="it-IT" dirty="0"/>
              <a:t> - </a:t>
            </a:r>
            <a:r>
              <a:rPr lang="it-IT" dirty="0" err="1"/>
              <a:t>estimation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528FD72-0B38-B75C-E869-EEB5FFB6E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2" y="3975265"/>
            <a:ext cx="10456459" cy="2813958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04D4619-7ABC-C30E-5C02-9C01459E8383}"/>
              </a:ext>
            </a:extLst>
          </p:cNvPr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39039354-B2A1-2B45-F79E-D42C0BEB8475}"/>
              </a:ext>
            </a:extLst>
          </p:cNvPr>
          <p:cNvSpPr/>
          <p:nvPr/>
        </p:nvSpPr>
        <p:spPr>
          <a:xfrm>
            <a:off x="9454896" y="1718536"/>
            <a:ext cx="1224917" cy="979887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6E551FB6-4DA1-4F0E-060D-1269B38F4A19}"/>
              </a:ext>
            </a:extLst>
          </p:cNvPr>
          <p:cNvSpPr/>
          <p:nvPr/>
        </p:nvSpPr>
        <p:spPr>
          <a:xfrm>
            <a:off x="10283952" y="5643271"/>
            <a:ext cx="1224917" cy="979887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889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742DC65-DE6E-17C3-E817-860CB512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</a:t>
            </a:r>
            <a:r>
              <a:rPr lang="it-IT" dirty="0" err="1"/>
              <a:t>Navigation</a:t>
            </a:r>
            <a:r>
              <a:rPr lang="it-IT" dirty="0"/>
              <a:t> (v1.0)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4A4814-B2C2-DA03-8F69-D3F2E0173F59}"/>
              </a:ext>
            </a:extLst>
          </p:cNvPr>
          <p:cNvSpPr txBox="1"/>
          <p:nvPr/>
        </p:nvSpPr>
        <p:spPr>
          <a:xfrm>
            <a:off x="667133" y="1106424"/>
            <a:ext cx="596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X,Y Position - </a:t>
            </a:r>
            <a:r>
              <a:rPr lang="it-IT" dirty="0" err="1"/>
              <a:t>estimation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98D0BB2-4E0D-9F73-F046-6271EA68F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3" y="1664208"/>
            <a:ext cx="10927136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6969C0E-6C89-FA15-6F68-4375CD04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7" y="23641"/>
            <a:ext cx="10515600" cy="1325563"/>
          </a:xfrm>
        </p:spPr>
        <p:txBody>
          <a:bodyPr/>
          <a:lstStyle/>
          <a:p>
            <a:r>
              <a:rPr lang="it-IT" dirty="0" err="1"/>
              <a:t>Estimation</a:t>
            </a:r>
            <a:r>
              <a:rPr lang="it-IT" dirty="0"/>
              <a:t> –</a:t>
            </a:r>
            <a:r>
              <a:rPr lang="it-IT" dirty="0" err="1"/>
              <a:t>Navigation</a:t>
            </a:r>
            <a:r>
              <a:rPr lang="it-IT" dirty="0"/>
              <a:t> (v1.0)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F8CECB-9180-6451-6800-6BAE49FC0538}"/>
              </a:ext>
            </a:extLst>
          </p:cNvPr>
          <p:cNvSpPr txBox="1"/>
          <p:nvPr/>
        </p:nvSpPr>
        <p:spPr>
          <a:xfrm>
            <a:off x="667133" y="1106424"/>
            <a:ext cx="596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X,Y </a:t>
            </a:r>
            <a:r>
              <a:rPr lang="it-IT" dirty="0" err="1"/>
              <a:t>Velocity</a:t>
            </a:r>
            <a:r>
              <a:rPr lang="it-IT" dirty="0"/>
              <a:t>- </a:t>
            </a:r>
            <a:r>
              <a:rPr lang="it-IT" dirty="0" err="1"/>
              <a:t>estimation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4B600B-9384-66CE-21FB-422B5ECA9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27" y="1879993"/>
            <a:ext cx="11512296" cy="346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79E96F-00AD-0E3E-42C1-25E45DED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OTHER INFO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7959AE-057D-4987-F4B9-653BF198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Tmp</a:t>
            </a:r>
            <a:endParaRPr lang="it-IT" dirty="0"/>
          </a:p>
          <a:p>
            <a:r>
              <a:rPr lang="it-IT" dirty="0" err="1"/>
              <a:t>V_bat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222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FFB64D-F54B-05C1-514F-CAA82F70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ACTIVE ROLL COTROL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8E1CA4-60FA-EA6A-08E7-0F8B8C54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PID </a:t>
            </a:r>
            <a:r>
              <a:rPr lang="it-IT" dirty="0" err="1"/>
              <a:t>based</a:t>
            </a:r>
            <a:endParaRPr lang="it-IT" dirty="0"/>
          </a:p>
          <a:p>
            <a:r>
              <a:rPr lang="it-IT" dirty="0"/>
              <a:t>Servo output (4x max)</a:t>
            </a:r>
          </a:p>
        </p:txBody>
      </p:sp>
    </p:spTree>
    <p:extLst>
      <p:ext uri="{BB962C8B-B14F-4D97-AF65-F5344CB8AC3E}">
        <p14:creationId xmlns:p14="http://schemas.microsoft.com/office/powerpoint/2010/main" val="818525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581903-5917-31FF-0C59-83B80C0D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STATE VECTOR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DE35D-5259-8D2D-0313-516ECEE06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4244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328</Words>
  <Application>Microsoft Office PowerPoint</Application>
  <PresentationFormat>Widescreen</PresentationFormat>
  <Paragraphs>42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di Office</vt:lpstr>
      <vt:lpstr>Explorer I Roll Control </vt:lpstr>
      <vt:lpstr>Software Architecture</vt:lpstr>
      <vt:lpstr>Presentazione standard di PowerPoint</vt:lpstr>
      <vt:lpstr>Block Diagram</vt:lpstr>
      <vt:lpstr>Estimation – Attitude (v1.0)</vt:lpstr>
      <vt:lpstr>Estimation – Attitude (v1.0)</vt:lpstr>
      <vt:lpstr>NAVIGATION STATE</vt:lpstr>
      <vt:lpstr>Estimation –Navigation (v1.0)</vt:lpstr>
      <vt:lpstr>Estimation –Navigation (v1.0)</vt:lpstr>
      <vt:lpstr>Estimation –Navigation (v1.0)</vt:lpstr>
      <vt:lpstr>OTHER INFO</vt:lpstr>
      <vt:lpstr>ACTIVE ROLL COTROL</vt:lpstr>
      <vt:lpstr>STATE VECTOR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Naranza</dc:creator>
  <cp:lastModifiedBy>Luca Naranza</cp:lastModifiedBy>
  <cp:revision>40</cp:revision>
  <dcterms:created xsi:type="dcterms:W3CDTF">2026-05-20T13:54:08Z</dcterms:created>
  <dcterms:modified xsi:type="dcterms:W3CDTF">2026-05-24T18:35:18Z</dcterms:modified>
</cp:coreProperties>
</file>